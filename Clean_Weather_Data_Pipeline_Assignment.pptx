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12065"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143000"/>
            <a:ext cx="10515600" cy="594360"/>
          </a:xfrm>
          <a:prstGeom prst="rect">
            <a:avLst/>
          </a:prstGeom>
          <a:noFill/>
        </p:spPr>
        <p:txBody>
          <a:bodyPr wrap="square" anchor="t">
            <a:spAutoFit/>
          </a:bodyPr>
          <a:lstStyle/>
          <a:p>
            <a:pPr algn="l">
              <a:defRPr sz="4000" b="1">
                <a:solidFill>
                  <a:srgbClr val="233448"/>
                </a:solidFill>
                <a:latin typeface="Arial" panose="020B0604020202090204"/>
              </a:defRPr>
            </a:pPr>
            <a:r>
              <a:t>Data Pipeline Design</a:t>
            </a:r>
          </a:p>
        </p:txBody>
      </p:sp>
      <p:sp>
        <p:nvSpPr>
          <p:cNvPr id="4" name="TextBox 3"/>
          <p:cNvSpPr txBox="1"/>
          <p:nvPr/>
        </p:nvSpPr>
        <p:spPr>
          <a:xfrm>
            <a:off x="804672" y="1828800"/>
            <a:ext cx="9601200" cy="457200"/>
          </a:xfrm>
          <a:prstGeom prst="rect">
            <a:avLst/>
          </a:prstGeom>
          <a:noFill/>
        </p:spPr>
        <p:txBody>
          <a:bodyPr wrap="square" anchor="t">
            <a:spAutoFit/>
          </a:bodyPr>
          <a:lstStyle/>
          <a:p>
            <a:pPr algn="l">
              <a:defRPr sz="2400" b="0">
                <a:solidFill>
                  <a:srgbClr val="4B7DAA"/>
                </a:solidFill>
                <a:latin typeface="Arial" panose="020B0604020202090204"/>
              </a:defRPr>
            </a:pPr>
            <a:r>
              <a:t>Weather Data Analytics</a:t>
            </a:r>
          </a:p>
        </p:txBody>
      </p:sp>
      <p:sp>
        <p:nvSpPr>
          <p:cNvPr id="5" name="TextBox 4"/>
          <p:cNvSpPr txBox="1"/>
          <p:nvPr/>
        </p:nvSpPr>
        <p:spPr>
          <a:xfrm>
            <a:off x="822960" y="2743200"/>
            <a:ext cx="6400800" cy="502920"/>
          </a:xfrm>
          <a:prstGeom prst="rect">
            <a:avLst/>
          </a:prstGeom>
          <a:noFill/>
        </p:spPr>
        <p:txBody>
          <a:bodyPr wrap="square" anchor="t">
            <a:spAutoFit/>
          </a:bodyPr>
          <a:lstStyle/>
          <a:p>
            <a:pPr algn="l">
              <a:defRPr sz="1600" b="0">
                <a:solidFill>
                  <a:srgbClr val="30343A"/>
                </a:solidFill>
                <a:latin typeface="Arial" panose="020B0604020202090204"/>
              </a:defRPr>
            </a:pPr>
            <a:r>
              <a:t>A simple pipeline from a weather API to a Power BI dashboard.</a:t>
            </a:r>
          </a:p>
        </p:txBody>
      </p:sp>
      <p:sp>
        <p:nvSpPr>
          <p:cNvPr id="6" name="TextBox 5"/>
          <p:cNvSpPr txBox="1"/>
          <p:nvPr/>
        </p:nvSpPr>
        <p:spPr>
          <a:xfrm>
            <a:off x="968375" y="3846194"/>
            <a:ext cx="5029200" cy="321945"/>
          </a:xfrm>
          <a:prstGeom prst="rect">
            <a:avLst/>
          </a:prstGeom>
          <a:noFill/>
        </p:spPr>
        <p:txBody>
          <a:bodyPr wrap="square" anchor="t">
            <a:spAutoFit/>
          </a:bodyPr>
          <a:lstStyle/>
          <a:p>
            <a:pPr algn="l">
              <a:defRPr sz="1500" b="0">
                <a:solidFill>
                  <a:srgbClr val="30343A"/>
                </a:solidFill>
                <a:latin typeface="Arial" panose="020B0604020202090204"/>
              </a:defRPr>
            </a:pPr>
            <a:r>
              <a:t>Name: </a:t>
            </a:r>
            <a:r>
              <a:rPr lang="en-US"/>
              <a:t> PRABHNOOR SINGH</a:t>
            </a:r>
          </a:p>
        </p:txBody>
      </p:sp>
      <p:sp>
        <p:nvSpPr>
          <p:cNvPr id="9" name="Rectangle 8"/>
          <p:cNvSpPr/>
          <p:nvPr/>
        </p:nvSpPr>
        <p:spPr>
          <a:xfrm>
            <a:off x="7223760" y="3611880"/>
            <a:ext cx="3566160" cy="1417320"/>
          </a:xfrm>
          <a:prstGeom prst="rect">
            <a:avLst/>
          </a:prstGeom>
          <a:solidFill>
            <a:srgbClr val="EBF2F8"/>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30343A"/>
                </a:solidFill>
                <a:latin typeface="Arial" panose="020B0604020202090204"/>
              </a:defRPr>
            </a:pPr>
            <a:r>
              <a:t>Main idea</a:t>
            </a:r>
          </a:p>
          <a:p>
            <a:pPr algn="ctr">
              <a:defRPr sz="1400">
                <a:solidFill>
                  <a:srgbClr val="696C70"/>
                </a:solidFill>
                <a:latin typeface="Arial" panose="020B0604020202090204"/>
              </a:defRPr>
            </a:pPr>
            <a:r>
              <a:t>Source → Ingestion → Processing</a:t>
            </a:r>
            <a:br/>
            <a:r>
              <a:t>→ Storage → Consumer</a:t>
            </a:r>
          </a:p>
        </p:txBody>
      </p:sp>
      <p:sp>
        <p:nvSpPr>
          <p:cNvPr id="10" name="TextBox 9"/>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1</a:t>
            </a:r>
          </a:p>
        </p:txBody>
      </p:sp>
      <p:sp>
        <p:nvSpPr>
          <p:cNvPr id="11" name="TextBox 7"/>
          <p:cNvSpPr txBox="1"/>
          <p:nvPr/>
        </p:nvSpPr>
        <p:spPr>
          <a:xfrm>
            <a:off x="895985" y="4251071"/>
            <a:ext cx="5029200" cy="553085"/>
          </a:xfrm>
          <a:prstGeom prst="rect">
            <a:avLst/>
          </a:prstGeom>
          <a:noFill/>
        </p:spPr>
        <p:txBody>
          <a:bodyPr wrap="square" anchor="t">
            <a:spAutoFit/>
          </a:bodyPr>
          <a:lstStyle/>
          <a:p>
            <a:pPr algn="l">
              <a:defRPr sz="1500" b="0">
                <a:solidFill>
                  <a:srgbClr val="30343A"/>
                </a:solidFill>
                <a:latin typeface="Arial" panose="020B0604020202090204"/>
              </a:defRPr>
            </a:pPr>
            <a:r>
              <a:t>Course: </a:t>
            </a:r>
            <a:r>
              <a:rPr lang="en-US" altLang="en-US"/>
              <a:t>Data Engineering - Six-Months Internship, Project-based &amp; AI Augmented</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1. What am I trying to solve?</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Selected source: a public Weather API</a:t>
            </a:r>
          </a:p>
        </p:txBody>
      </p:sp>
      <p:sp>
        <p:nvSpPr>
          <p:cNvPr id="5" name="Rectangle 4"/>
          <p:cNvSpPr/>
          <p:nvPr/>
        </p:nvSpPr>
        <p:spPr>
          <a:xfrm>
            <a:off x="731520" y="1417320"/>
            <a:ext cx="2926080" cy="3474720"/>
          </a:xfrm>
          <a:prstGeom prst="rect">
            <a:avLst/>
          </a:prstGeom>
          <a:solidFill>
            <a:srgbClr val="EBF2F8"/>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300" b="1">
                <a:solidFill>
                  <a:srgbClr val="30343A"/>
                </a:solidFill>
                <a:latin typeface="Arial" panose="020B0604020202090204"/>
              </a:defRPr>
            </a:pPr>
            <a:r>
              <a:t>Weather API</a:t>
            </a:r>
          </a:p>
          <a:p>
            <a:pPr algn="ctr">
              <a:defRPr sz="1200">
                <a:solidFill>
                  <a:srgbClr val="696C70"/>
                </a:solidFill>
                <a:latin typeface="Arial" panose="020B0604020202090204"/>
              </a:defRPr>
            </a:pPr>
            <a:r>
              <a:t>Raw weather observations</a:t>
            </a:r>
          </a:p>
        </p:txBody>
      </p:sp>
      <p:sp>
        <p:nvSpPr>
          <p:cNvPr id="6" name="TextBox 5"/>
          <p:cNvSpPr txBox="1"/>
          <p:nvPr/>
        </p:nvSpPr>
        <p:spPr>
          <a:xfrm>
            <a:off x="4069080" y="1417320"/>
            <a:ext cx="6858000" cy="365760"/>
          </a:xfrm>
          <a:prstGeom prst="rect">
            <a:avLst/>
          </a:prstGeom>
          <a:noFill/>
        </p:spPr>
        <p:txBody>
          <a:bodyPr wrap="square" anchor="t">
            <a:spAutoFit/>
          </a:bodyPr>
          <a:lstStyle/>
          <a:p>
            <a:pPr algn="l">
              <a:defRPr sz="1900" b="1">
                <a:solidFill>
                  <a:srgbClr val="233448"/>
                </a:solidFill>
                <a:latin typeface="Arial" panose="020B0604020202090204"/>
              </a:defRPr>
            </a:pPr>
            <a:r>
              <a:t>What kind of data do we get?</a:t>
            </a:r>
          </a:p>
        </p:txBody>
      </p:sp>
      <p:sp>
        <p:nvSpPr>
          <p:cNvPr id="7" name="TextBox 6"/>
          <p:cNvSpPr txBox="1"/>
          <p:nvPr/>
        </p:nvSpPr>
        <p:spPr>
          <a:xfrm>
            <a:off x="4069080" y="1938528"/>
            <a:ext cx="6766560" cy="1828800"/>
          </a:xfrm>
          <a:prstGeom prst="rect">
            <a:avLst/>
          </a:prstGeom>
          <a:noFill/>
        </p:spPr>
        <p:txBody>
          <a:bodyPr wrap="square">
            <a:spAutoFit/>
          </a:bodyPr>
          <a:lstStyle/>
          <a:p>
            <a:pPr>
              <a:spcAft>
                <a:spcPts val="700"/>
              </a:spcAft>
              <a:defRPr sz="1700">
                <a:solidFill>
                  <a:srgbClr val="30343A"/>
                </a:solidFill>
                <a:latin typeface="Arial" panose="020B0604020202090204"/>
              </a:defRPr>
            </a:pPr>
            <a:r>
              <a:t>• Temperature and feels-like temperature</a:t>
            </a:r>
          </a:p>
          <a:p>
            <a:pPr>
              <a:spcAft>
                <a:spcPts val="700"/>
              </a:spcAft>
              <a:defRPr sz="1700">
                <a:solidFill>
                  <a:srgbClr val="30343A"/>
                </a:solidFill>
                <a:latin typeface="Arial" panose="020B0604020202090204"/>
              </a:defRPr>
            </a:pPr>
            <a:r>
              <a:t>• Humidity and wind speed</a:t>
            </a:r>
          </a:p>
          <a:p>
            <a:pPr>
              <a:spcAft>
                <a:spcPts val="700"/>
              </a:spcAft>
              <a:defRPr sz="1700">
                <a:solidFill>
                  <a:srgbClr val="30343A"/>
                </a:solidFill>
                <a:latin typeface="Arial" panose="020B0604020202090204"/>
              </a:defRPr>
            </a:pPr>
            <a:r>
              <a:t>• Weather condition and location</a:t>
            </a:r>
          </a:p>
          <a:p>
            <a:pPr>
              <a:spcAft>
                <a:spcPts val="700"/>
              </a:spcAft>
              <a:defRPr sz="1700">
                <a:solidFill>
                  <a:srgbClr val="30343A"/>
                </a:solidFill>
                <a:latin typeface="Arial" panose="020B0604020202090204"/>
              </a:defRPr>
            </a:pPr>
            <a:r>
              <a:t>• Timestamp for each observation</a:t>
            </a:r>
          </a:p>
        </p:txBody>
      </p:sp>
      <p:sp>
        <p:nvSpPr>
          <p:cNvPr id="8" name="TextBox 7"/>
          <p:cNvSpPr txBox="1"/>
          <p:nvPr/>
        </p:nvSpPr>
        <p:spPr>
          <a:xfrm>
            <a:off x="4069080" y="4224528"/>
            <a:ext cx="6766560" cy="365760"/>
          </a:xfrm>
          <a:prstGeom prst="rect">
            <a:avLst/>
          </a:prstGeom>
          <a:noFill/>
        </p:spPr>
        <p:txBody>
          <a:bodyPr wrap="square" anchor="t">
            <a:spAutoFit/>
          </a:bodyPr>
          <a:lstStyle/>
          <a:p>
            <a:pPr algn="l">
              <a:defRPr sz="1800" b="1">
                <a:solidFill>
                  <a:srgbClr val="233448"/>
                </a:solidFill>
                <a:latin typeface="Arial" panose="020B0604020202090204"/>
              </a:defRPr>
            </a:pPr>
            <a:r>
              <a:t>Goal</a:t>
            </a:r>
          </a:p>
        </p:txBody>
      </p:sp>
      <p:sp>
        <p:nvSpPr>
          <p:cNvPr id="9" name="TextBox 8"/>
          <p:cNvSpPr txBox="1"/>
          <p:nvPr/>
        </p:nvSpPr>
        <p:spPr>
          <a:xfrm>
            <a:off x="4069080" y="4645152"/>
            <a:ext cx="6675120" cy="914400"/>
          </a:xfrm>
          <a:prstGeom prst="rect">
            <a:avLst/>
          </a:prstGeom>
          <a:noFill/>
        </p:spPr>
        <p:txBody>
          <a:bodyPr wrap="square" anchor="t">
            <a:spAutoFit/>
          </a:bodyPr>
          <a:lstStyle/>
          <a:p>
            <a:pPr algn="l">
              <a:defRPr sz="1600" b="0">
                <a:solidFill>
                  <a:srgbClr val="30343A"/>
                </a:solidFill>
                <a:latin typeface="Arial" panose="020B0604020202090204"/>
              </a:defRPr>
            </a:pPr>
            <a:r>
              <a:t>Collect the data regularly, make it clean and consistent, keep it for later analysis, and show useful trends in a dashboard.</a:t>
            </a:r>
          </a:p>
        </p:txBody>
      </p:sp>
      <p:sp>
        <p:nvSpPr>
          <p:cNvPr id="10" name="TextBox 9"/>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2. Diagram 1 — Logical Architecture</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This diagram describes the jobs, not the products</a:t>
            </a:r>
          </a:p>
        </p:txBody>
      </p:sp>
      <p:sp>
        <p:nvSpPr>
          <p:cNvPr id="5" name="Rectangle 4"/>
          <p:cNvSpPr/>
          <p:nvPr/>
        </p:nvSpPr>
        <p:spPr>
          <a:xfrm>
            <a:off x="3337560" y="1298448"/>
            <a:ext cx="5394960" cy="685800"/>
          </a:xfrm>
          <a:prstGeom prst="rect">
            <a:avLst/>
          </a:prstGeom>
          <a:solidFill>
            <a:srgbClr val="EBF2F8"/>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SOURCE</a:t>
            </a:r>
          </a:p>
          <a:p>
            <a:pPr algn="ctr">
              <a:defRPr sz="1050">
                <a:solidFill>
                  <a:srgbClr val="696C70"/>
                </a:solidFill>
                <a:latin typeface="Arial" panose="020B0604020202090204"/>
              </a:defRPr>
            </a:pPr>
            <a:r>
              <a:t>Weather data</a:t>
            </a:r>
          </a:p>
        </p:txBody>
      </p:sp>
      <p:sp>
        <p:nvSpPr>
          <p:cNvPr id="6" name="TextBox 5"/>
          <p:cNvSpPr txBox="1"/>
          <p:nvPr/>
        </p:nvSpPr>
        <p:spPr>
          <a:xfrm>
            <a:off x="5833872" y="1993391"/>
            <a:ext cx="365760" cy="292608"/>
          </a:xfrm>
          <a:prstGeom prst="rect">
            <a:avLst/>
          </a:prstGeom>
          <a:noFill/>
        </p:spPr>
        <p:txBody>
          <a:bodyPr wrap="square" anchor="t">
            <a:spAutoFit/>
          </a:bodyPr>
          <a:lstStyle/>
          <a:p>
            <a:pPr algn="ctr">
              <a:defRPr sz="2000" b="1">
                <a:solidFill>
                  <a:srgbClr val="696C70"/>
                </a:solidFill>
                <a:latin typeface="Arial" panose="020B0604020202090204"/>
              </a:defRPr>
            </a:pPr>
            <a:r>
              <a:t>↓</a:t>
            </a:r>
          </a:p>
        </p:txBody>
      </p:sp>
      <p:sp>
        <p:nvSpPr>
          <p:cNvPr id="7" name="Rectangle 6"/>
          <p:cNvSpPr/>
          <p:nvPr/>
        </p:nvSpPr>
        <p:spPr>
          <a:xfrm>
            <a:off x="3337560" y="2212848"/>
            <a:ext cx="5394960" cy="685800"/>
          </a:xfrm>
          <a:prstGeom prst="rect">
            <a:avLst/>
          </a:prstGeom>
          <a:solidFill>
            <a:srgbClr val="ECF4EE"/>
          </a:solidFill>
          <a:ln w="15240">
            <a:solidFill>
              <a:srgbClr val="52846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INGESTION</a:t>
            </a:r>
          </a:p>
          <a:p>
            <a:pPr algn="ctr">
              <a:defRPr sz="1050">
                <a:solidFill>
                  <a:srgbClr val="696C70"/>
                </a:solidFill>
                <a:latin typeface="Arial" panose="020B0604020202090204"/>
              </a:defRPr>
            </a:pPr>
            <a:r>
              <a:t>Collect the data</a:t>
            </a:r>
          </a:p>
        </p:txBody>
      </p:sp>
      <p:sp>
        <p:nvSpPr>
          <p:cNvPr id="8" name="TextBox 7"/>
          <p:cNvSpPr txBox="1"/>
          <p:nvPr/>
        </p:nvSpPr>
        <p:spPr>
          <a:xfrm>
            <a:off x="5833872" y="2907791"/>
            <a:ext cx="365760" cy="292608"/>
          </a:xfrm>
          <a:prstGeom prst="rect">
            <a:avLst/>
          </a:prstGeom>
          <a:noFill/>
        </p:spPr>
        <p:txBody>
          <a:bodyPr wrap="square" anchor="t">
            <a:spAutoFit/>
          </a:bodyPr>
          <a:lstStyle/>
          <a:p>
            <a:pPr algn="ctr">
              <a:defRPr sz="2000" b="1">
                <a:solidFill>
                  <a:srgbClr val="696C70"/>
                </a:solidFill>
                <a:latin typeface="Arial" panose="020B0604020202090204"/>
              </a:defRPr>
            </a:pPr>
            <a:r>
              <a:t>↓</a:t>
            </a:r>
          </a:p>
        </p:txBody>
      </p:sp>
      <p:sp>
        <p:nvSpPr>
          <p:cNvPr id="9" name="Rectangle 8"/>
          <p:cNvSpPr/>
          <p:nvPr/>
        </p:nvSpPr>
        <p:spPr>
          <a:xfrm>
            <a:off x="3337560" y="3127248"/>
            <a:ext cx="5394960" cy="685800"/>
          </a:xfrm>
          <a:prstGeom prst="rect">
            <a:avLst/>
          </a:prstGeom>
          <a:solidFill>
            <a:srgbClr val="F9F0E5"/>
          </a:solidFill>
          <a:ln w="15240">
            <a:solidFill>
              <a:srgbClr val="BE80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PROCESSING</a:t>
            </a:r>
          </a:p>
          <a:p>
            <a:pPr algn="ctr">
              <a:defRPr sz="1050">
                <a:solidFill>
                  <a:srgbClr val="696C70"/>
                </a:solidFill>
                <a:latin typeface="Arial" panose="020B0604020202090204"/>
              </a:defRPr>
            </a:pPr>
            <a:r>
              <a:t>Clean • validate • transform</a:t>
            </a:r>
          </a:p>
        </p:txBody>
      </p:sp>
      <p:sp>
        <p:nvSpPr>
          <p:cNvPr id="10" name="TextBox 9"/>
          <p:cNvSpPr txBox="1"/>
          <p:nvPr/>
        </p:nvSpPr>
        <p:spPr>
          <a:xfrm>
            <a:off x="5833872" y="3822191"/>
            <a:ext cx="365760" cy="292608"/>
          </a:xfrm>
          <a:prstGeom prst="rect">
            <a:avLst/>
          </a:prstGeom>
          <a:noFill/>
        </p:spPr>
        <p:txBody>
          <a:bodyPr wrap="square" anchor="t">
            <a:spAutoFit/>
          </a:bodyPr>
          <a:lstStyle/>
          <a:p>
            <a:pPr algn="ctr">
              <a:defRPr sz="2000" b="1">
                <a:solidFill>
                  <a:srgbClr val="696C70"/>
                </a:solidFill>
                <a:latin typeface="Arial" panose="020B0604020202090204"/>
              </a:defRPr>
            </a:pPr>
            <a:r>
              <a:t>↓</a:t>
            </a:r>
          </a:p>
        </p:txBody>
      </p:sp>
      <p:sp>
        <p:nvSpPr>
          <p:cNvPr id="11" name="Rectangle 10"/>
          <p:cNvSpPr/>
          <p:nvPr/>
        </p:nvSpPr>
        <p:spPr>
          <a:xfrm>
            <a:off x="3337560" y="4041648"/>
            <a:ext cx="5394960" cy="685800"/>
          </a:xfrm>
          <a:prstGeom prst="rect">
            <a:avLst/>
          </a:prstGeom>
          <a:solidFill>
            <a:srgbClr val="F1EEF7"/>
          </a:solidFill>
          <a:ln w="15240">
            <a:solidFill>
              <a:srgbClr val="74649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STORAGE</a:t>
            </a:r>
          </a:p>
          <a:p>
            <a:pPr algn="ctr">
              <a:defRPr sz="1050">
                <a:solidFill>
                  <a:srgbClr val="696C70"/>
                </a:solidFill>
                <a:latin typeface="Arial" panose="020B0604020202090204"/>
              </a:defRPr>
            </a:pPr>
            <a:r>
              <a:t>Keep processed data</a:t>
            </a:r>
          </a:p>
        </p:txBody>
      </p:sp>
      <p:sp>
        <p:nvSpPr>
          <p:cNvPr id="12" name="TextBox 11"/>
          <p:cNvSpPr txBox="1"/>
          <p:nvPr/>
        </p:nvSpPr>
        <p:spPr>
          <a:xfrm>
            <a:off x="5833872" y="4736592"/>
            <a:ext cx="365760" cy="292608"/>
          </a:xfrm>
          <a:prstGeom prst="rect">
            <a:avLst/>
          </a:prstGeom>
          <a:noFill/>
        </p:spPr>
        <p:txBody>
          <a:bodyPr wrap="square" anchor="t">
            <a:spAutoFit/>
          </a:bodyPr>
          <a:lstStyle/>
          <a:p>
            <a:pPr algn="ctr">
              <a:defRPr sz="2000" b="1">
                <a:solidFill>
                  <a:srgbClr val="696C70"/>
                </a:solidFill>
                <a:latin typeface="Arial" panose="020B0604020202090204"/>
              </a:defRPr>
            </a:pPr>
            <a:r>
              <a:t>↓</a:t>
            </a:r>
          </a:p>
        </p:txBody>
      </p:sp>
      <p:sp>
        <p:nvSpPr>
          <p:cNvPr id="13" name="Rectangle 12"/>
          <p:cNvSpPr/>
          <p:nvPr/>
        </p:nvSpPr>
        <p:spPr>
          <a:xfrm>
            <a:off x="3337560" y="4956048"/>
            <a:ext cx="5394960" cy="685800"/>
          </a:xfrm>
          <a:prstGeom prst="rect">
            <a:avLst/>
          </a:prstGeom>
          <a:solidFill>
            <a:srgbClr val="F8ECEB"/>
          </a:solidFill>
          <a:ln w="15240">
            <a:solidFill>
              <a:srgbClr val="A554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CONSUMER</a:t>
            </a:r>
          </a:p>
          <a:p>
            <a:pPr algn="ctr">
              <a:defRPr sz="1050">
                <a:solidFill>
                  <a:srgbClr val="696C70"/>
                </a:solidFill>
                <a:latin typeface="Arial" panose="020B0604020202090204"/>
              </a:defRPr>
            </a:pPr>
            <a:r>
              <a:t>Dashboard / analyst</a:t>
            </a:r>
          </a:p>
        </p:txBody>
      </p:sp>
      <p:sp>
        <p:nvSpPr>
          <p:cNvPr id="14" name="TextBox 13"/>
          <p:cNvSpPr txBox="1"/>
          <p:nvPr/>
        </p:nvSpPr>
        <p:spPr>
          <a:xfrm>
            <a:off x="777240" y="1463040"/>
            <a:ext cx="2103120" cy="1097280"/>
          </a:xfrm>
          <a:prstGeom prst="rect">
            <a:avLst/>
          </a:prstGeom>
          <a:noFill/>
        </p:spPr>
        <p:txBody>
          <a:bodyPr wrap="square" anchor="t">
            <a:spAutoFit/>
          </a:bodyPr>
          <a:lstStyle/>
          <a:p>
            <a:pPr algn="l">
              <a:defRPr sz="1250" b="0">
                <a:solidFill>
                  <a:srgbClr val="696C70"/>
                </a:solidFill>
                <a:latin typeface="Arial" panose="020B0604020202090204"/>
              </a:defRPr>
            </a:pPr>
            <a:r>
              <a:t>Each box answers one question:</a:t>
            </a:r>
            <a:br/>
            <a:br/>
            <a:r>
              <a:t>Where does the data come from?</a:t>
            </a:r>
          </a:p>
        </p:txBody>
      </p:sp>
      <p:sp>
        <p:nvSpPr>
          <p:cNvPr id="15" name="TextBox 14"/>
          <p:cNvSpPr txBox="1"/>
          <p:nvPr/>
        </p:nvSpPr>
        <p:spPr>
          <a:xfrm>
            <a:off x="9006840" y="2148840"/>
            <a:ext cx="2377440" cy="1188720"/>
          </a:xfrm>
          <a:prstGeom prst="rect">
            <a:avLst/>
          </a:prstGeom>
          <a:noFill/>
        </p:spPr>
        <p:txBody>
          <a:bodyPr wrap="square" anchor="t">
            <a:spAutoFit/>
          </a:bodyPr>
          <a:lstStyle/>
          <a:p>
            <a:pPr algn="l">
              <a:defRPr sz="1250" b="0">
                <a:solidFill>
                  <a:srgbClr val="696C70"/>
                </a:solidFill>
                <a:latin typeface="Arial" panose="020B0604020202090204"/>
              </a:defRPr>
            </a:pPr>
            <a:r>
              <a:t>How does it enter?</a:t>
            </a:r>
            <a:br/>
            <a:br/>
            <a:r>
              <a:t>What happens to it?</a:t>
            </a:r>
          </a:p>
        </p:txBody>
      </p:sp>
      <p:sp>
        <p:nvSpPr>
          <p:cNvPr id="16" name="TextBox 15"/>
          <p:cNvSpPr txBox="1"/>
          <p:nvPr/>
        </p:nvSpPr>
        <p:spPr>
          <a:xfrm>
            <a:off x="777240" y="4709160"/>
            <a:ext cx="2286000" cy="914400"/>
          </a:xfrm>
          <a:prstGeom prst="rect">
            <a:avLst/>
          </a:prstGeom>
          <a:noFill/>
        </p:spPr>
        <p:txBody>
          <a:bodyPr wrap="square" anchor="t">
            <a:spAutoFit/>
          </a:bodyPr>
          <a:lstStyle/>
          <a:p>
            <a:pPr algn="l">
              <a:defRPr sz="1250" b="0">
                <a:solidFill>
                  <a:srgbClr val="696C70"/>
                </a:solidFill>
                <a:latin typeface="Arial" panose="020B0604020202090204"/>
              </a:defRPr>
            </a:pPr>
            <a:r>
              <a:t>Where is it kept?</a:t>
            </a:r>
            <a:br/>
            <a:br/>
            <a:r>
              <a:t>Who uses it?</a:t>
            </a:r>
          </a:p>
        </p:txBody>
      </p:sp>
      <p:sp>
        <p:nvSpPr>
          <p:cNvPr id="17" name="TextBox 16"/>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3. Diagram 2 — Technology Mapping</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One practical implementation of the logical design</a:t>
            </a:r>
          </a:p>
        </p:txBody>
      </p:sp>
      <p:sp>
        <p:nvSpPr>
          <p:cNvPr id="5" name="Rectangle 4"/>
          <p:cNvSpPr/>
          <p:nvPr/>
        </p:nvSpPr>
        <p:spPr>
          <a:xfrm>
            <a:off x="502920" y="1828800"/>
            <a:ext cx="2057400" cy="1325880"/>
          </a:xfrm>
          <a:prstGeom prst="rect">
            <a:avLst/>
          </a:prstGeom>
          <a:solidFill>
            <a:srgbClr val="EBF2F8"/>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Weather API</a:t>
            </a:r>
          </a:p>
          <a:p>
            <a:pPr algn="ctr">
              <a:defRPr sz="1050">
                <a:solidFill>
                  <a:srgbClr val="696C70"/>
                </a:solidFill>
                <a:latin typeface="Arial" panose="020B0604020202090204"/>
              </a:defRPr>
            </a:pPr>
            <a:r>
              <a:t>Source</a:t>
            </a:r>
          </a:p>
        </p:txBody>
      </p:sp>
      <p:sp>
        <p:nvSpPr>
          <p:cNvPr id="6" name="TextBox 5"/>
          <p:cNvSpPr txBox="1"/>
          <p:nvPr/>
        </p:nvSpPr>
        <p:spPr>
          <a:xfrm>
            <a:off x="2578608" y="2313432"/>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7" name="Rectangle 6"/>
          <p:cNvSpPr/>
          <p:nvPr/>
        </p:nvSpPr>
        <p:spPr>
          <a:xfrm>
            <a:off x="2834639" y="1828800"/>
            <a:ext cx="2057400" cy="1325880"/>
          </a:xfrm>
          <a:prstGeom prst="rect">
            <a:avLst/>
          </a:prstGeom>
          <a:solidFill>
            <a:srgbClr val="ECF4EE"/>
          </a:solidFill>
          <a:ln w="15240">
            <a:solidFill>
              <a:srgbClr val="52846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Python</a:t>
            </a:r>
          </a:p>
          <a:p>
            <a:pPr algn="ctr">
              <a:defRPr sz="1050">
                <a:solidFill>
                  <a:srgbClr val="696C70"/>
                </a:solidFill>
                <a:latin typeface="Arial" panose="020B0604020202090204"/>
              </a:defRPr>
            </a:pPr>
            <a:r>
              <a:t>API requests / ingestion</a:t>
            </a:r>
          </a:p>
        </p:txBody>
      </p:sp>
      <p:sp>
        <p:nvSpPr>
          <p:cNvPr id="8" name="TextBox 7"/>
          <p:cNvSpPr txBox="1"/>
          <p:nvPr/>
        </p:nvSpPr>
        <p:spPr>
          <a:xfrm>
            <a:off x="4910327" y="2313432"/>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9" name="Rectangle 8"/>
          <p:cNvSpPr/>
          <p:nvPr/>
        </p:nvSpPr>
        <p:spPr>
          <a:xfrm>
            <a:off x="5166359" y="1828800"/>
            <a:ext cx="2057400" cy="1325880"/>
          </a:xfrm>
          <a:prstGeom prst="rect">
            <a:avLst/>
          </a:prstGeom>
          <a:solidFill>
            <a:srgbClr val="F9F0E5"/>
          </a:solidFill>
          <a:ln w="15240">
            <a:solidFill>
              <a:srgbClr val="BE80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Pandas</a:t>
            </a:r>
          </a:p>
          <a:p>
            <a:pPr algn="ctr">
              <a:defRPr sz="1050">
                <a:solidFill>
                  <a:srgbClr val="696C70"/>
                </a:solidFill>
                <a:latin typeface="Arial" panose="020B0604020202090204"/>
              </a:defRPr>
            </a:pPr>
            <a:r>
              <a:t>Cleaning + transformation</a:t>
            </a:r>
          </a:p>
        </p:txBody>
      </p:sp>
      <p:sp>
        <p:nvSpPr>
          <p:cNvPr id="10" name="TextBox 9"/>
          <p:cNvSpPr txBox="1"/>
          <p:nvPr/>
        </p:nvSpPr>
        <p:spPr>
          <a:xfrm>
            <a:off x="7242048" y="2313432"/>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11" name="Rectangle 10"/>
          <p:cNvSpPr/>
          <p:nvPr/>
        </p:nvSpPr>
        <p:spPr>
          <a:xfrm>
            <a:off x="7498079" y="1828800"/>
            <a:ext cx="2057400" cy="1325880"/>
          </a:xfrm>
          <a:prstGeom prst="rect">
            <a:avLst/>
          </a:prstGeom>
          <a:solidFill>
            <a:srgbClr val="F1EEF7"/>
          </a:solidFill>
          <a:ln w="15240">
            <a:solidFill>
              <a:srgbClr val="74649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PostgreSQL</a:t>
            </a:r>
          </a:p>
          <a:p>
            <a:pPr algn="ctr">
              <a:defRPr sz="1050">
                <a:solidFill>
                  <a:srgbClr val="696C70"/>
                </a:solidFill>
                <a:latin typeface="Arial" panose="020B0604020202090204"/>
              </a:defRPr>
            </a:pPr>
            <a:r>
              <a:t>Processed data storage</a:t>
            </a:r>
          </a:p>
        </p:txBody>
      </p:sp>
      <p:sp>
        <p:nvSpPr>
          <p:cNvPr id="12" name="TextBox 11"/>
          <p:cNvSpPr txBox="1"/>
          <p:nvPr/>
        </p:nvSpPr>
        <p:spPr>
          <a:xfrm>
            <a:off x="9573767" y="2313432"/>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13" name="Rectangle 12"/>
          <p:cNvSpPr/>
          <p:nvPr/>
        </p:nvSpPr>
        <p:spPr>
          <a:xfrm>
            <a:off x="9829800" y="1828800"/>
            <a:ext cx="2057400" cy="1325880"/>
          </a:xfrm>
          <a:prstGeom prst="rect">
            <a:avLst/>
          </a:prstGeom>
          <a:solidFill>
            <a:srgbClr val="F8ECEB"/>
          </a:solidFill>
          <a:ln w="15240">
            <a:solidFill>
              <a:srgbClr val="A554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30343A"/>
                </a:solidFill>
                <a:latin typeface="Arial" panose="020B0604020202090204"/>
              </a:defRPr>
            </a:pPr>
            <a:r>
              <a:t>Power BI</a:t>
            </a:r>
          </a:p>
          <a:p>
            <a:pPr algn="ctr">
              <a:defRPr sz="1050">
                <a:solidFill>
                  <a:srgbClr val="696C70"/>
                </a:solidFill>
                <a:latin typeface="Arial" panose="020B0604020202090204"/>
              </a:defRPr>
            </a:pPr>
            <a:r>
              <a:t>Dashboard / consumer</a:t>
            </a:r>
          </a:p>
        </p:txBody>
      </p:sp>
      <p:sp>
        <p:nvSpPr>
          <p:cNvPr id="14" name="TextBox 13"/>
          <p:cNvSpPr txBox="1"/>
          <p:nvPr/>
        </p:nvSpPr>
        <p:spPr>
          <a:xfrm>
            <a:off x="731520" y="3749039"/>
            <a:ext cx="10698480" cy="365760"/>
          </a:xfrm>
          <a:prstGeom prst="rect">
            <a:avLst/>
          </a:prstGeom>
          <a:noFill/>
        </p:spPr>
        <p:txBody>
          <a:bodyPr wrap="square" anchor="t">
            <a:spAutoFit/>
          </a:bodyPr>
          <a:lstStyle/>
          <a:p>
            <a:pPr algn="l">
              <a:defRPr sz="1900" b="1">
                <a:solidFill>
                  <a:srgbClr val="233448"/>
                </a:solidFill>
                <a:latin typeface="Arial" panose="020B0604020202090204"/>
              </a:defRPr>
            </a:pPr>
            <a:r>
              <a:t>Why this mapping?</a:t>
            </a:r>
          </a:p>
        </p:txBody>
      </p:sp>
      <p:sp>
        <p:nvSpPr>
          <p:cNvPr id="15" name="TextBox 14"/>
          <p:cNvSpPr txBox="1"/>
          <p:nvPr/>
        </p:nvSpPr>
        <p:spPr>
          <a:xfrm>
            <a:off x="731520" y="4251960"/>
            <a:ext cx="10698480" cy="914400"/>
          </a:xfrm>
          <a:prstGeom prst="rect">
            <a:avLst/>
          </a:prstGeom>
          <a:noFill/>
        </p:spPr>
        <p:txBody>
          <a:bodyPr wrap="square" anchor="t">
            <a:spAutoFit/>
          </a:bodyPr>
          <a:lstStyle/>
          <a:p>
            <a:pPr algn="l">
              <a:defRPr sz="1600" b="0">
                <a:solidFill>
                  <a:srgbClr val="30343A"/>
                </a:solidFill>
                <a:latin typeface="Arial" panose="020B0604020202090204"/>
              </a:defRPr>
            </a:pPr>
            <a:r>
              <a:t>The tools are deliberately simple. Python handles collection, Pandas handles preparation, PostgreSQL keeps the cleaned records, and Power BI is used for reporting.</a:t>
            </a:r>
          </a:p>
        </p:txBody>
      </p:sp>
      <p:sp>
        <p:nvSpPr>
          <p:cNvPr id="16" name="TextBox 15"/>
          <p:cNvSpPr txBox="1"/>
          <p:nvPr/>
        </p:nvSpPr>
        <p:spPr>
          <a:xfrm>
            <a:off x="731520" y="5486400"/>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The exact technology could change; the logical roles stay the same.</a:t>
            </a:r>
          </a:p>
        </p:txBody>
      </p:sp>
      <p:sp>
        <p:nvSpPr>
          <p:cNvPr id="17" name="TextBox 16"/>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4. What happens to one weather record?</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Following one record makes the pipeline easier to understand</a:t>
            </a:r>
          </a:p>
        </p:txBody>
      </p:sp>
      <p:sp>
        <p:nvSpPr>
          <p:cNvPr id="5" name="Rectangle 4"/>
          <p:cNvSpPr/>
          <p:nvPr/>
        </p:nvSpPr>
        <p:spPr>
          <a:xfrm>
            <a:off x="640080" y="1508760"/>
            <a:ext cx="3246120" cy="2148840"/>
          </a:xfrm>
          <a:prstGeom prst="rect">
            <a:avLst/>
          </a:prstGeom>
          <a:solidFill>
            <a:srgbClr val="FFFFFF"/>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30343A"/>
                </a:solidFill>
                <a:latin typeface="Arial" panose="020B0604020202090204"/>
              </a:defRPr>
            </a:pPr>
            <a:r>
              <a:t>Raw API response</a:t>
            </a:r>
          </a:p>
          <a:p>
            <a:pPr algn="ctr">
              <a:defRPr sz="1200">
                <a:solidFill>
                  <a:srgbClr val="696C70"/>
                </a:solidFill>
                <a:latin typeface="Arial" panose="020B0604020202090204"/>
              </a:defRPr>
            </a:pPr>
            <a:r>
              <a:t>city = Jalandhar</a:t>
            </a:r>
            <a:br/>
            <a:r>
              <a:t>temp = "29.5"</a:t>
            </a:r>
            <a:br/>
            <a:r>
              <a:t>humidity = 72</a:t>
            </a:r>
            <a:br/>
            <a:r>
              <a:t>time = "04/10/26 10:00"</a:t>
            </a:r>
          </a:p>
        </p:txBody>
      </p:sp>
      <p:sp>
        <p:nvSpPr>
          <p:cNvPr id="6" name="TextBox 5"/>
          <p:cNvSpPr txBox="1"/>
          <p:nvPr/>
        </p:nvSpPr>
        <p:spPr>
          <a:xfrm>
            <a:off x="4023360" y="2331720"/>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7" name="Rectangle 6"/>
          <p:cNvSpPr/>
          <p:nvPr/>
        </p:nvSpPr>
        <p:spPr>
          <a:xfrm>
            <a:off x="4407408" y="1508760"/>
            <a:ext cx="3246120" cy="2148840"/>
          </a:xfrm>
          <a:prstGeom prst="rect">
            <a:avLst/>
          </a:prstGeom>
          <a:solidFill>
            <a:srgbClr val="FFFFFF"/>
          </a:solidFill>
          <a:ln w="15240">
            <a:solidFill>
              <a:srgbClr val="BE80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30343A"/>
                </a:solidFill>
                <a:latin typeface="Arial" panose="020B0604020202090204"/>
              </a:defRPr>
            </a:pPr>
            <a:r>
              <a:t>Processing</a:t>
            </a:r>
          </a:p>
          <a:p>
            <a:pPr algn="ctr">
              <a:defRPr sz="1200">
                <a:solidFill>
                  <a:srgbClr val="696C70"/>
                </a:solidFill>
                <a:latin typeface="Arial" panose="020B0604020202090204"/>
              </a:defRPr>
            </a:pPr>
            <a:r>
              <a:t>convert types</a:t>
            </a:r>
            <a:br/>
            <a:r>
              <a:t>check ranges</a:t>
            </a:r>
            <a:br/>
            <a:r>
              <a:t>standardize time</a:t>
            </a:r>
            <a:br/>
            <a:r>
              <a:t>remove duplicates</a:t>
            </a:r>
          </a:p>
        </p:txBody>
      </p:sp>
      <p:sp>
        <p:nvSpPr>
          <p:cNvPr id="8" name="TextBox 7"/>
          <p:cNvSpPr txBox="1"/>
          <p:nvPr/>
        </p:nvSpPr>
        <p:spPr>
          <a:xfrm>
            <a:off x="7790688" y="2331720"/>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9" name="Rectangle 8"/>
          <p:cNvSpPr/>
          <p:nvPr/>
        </p:nvSpPr>
        <p:spPr>
          <a:xfrm>
            <a:off x="8156448" y="1508760"/>
            <a:ext cx="3383280" cy="2148840"/>
          </a:xfrm>
          <a:prstGeom prst="rect">
            <a:avLst/>
          </a:prstGeom>
          <a:solidFill>
            <a:srgbClr val="FFFFFF"/>
          </a:solidFill>
          <a:ln w="15240">
            <a:solidFill>
              <a:srgbClr val="74649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30343A"/>
                </a:solidFill>
                <a:latin typeface="Arial" panose="020B0604020202090204"/>
              </a:defRPr>
            </a:pPr>
            <a:r>
              <a:t>Stored record</a:t>
            </a:r>
          </a:p>
          <a:p>
            <a:pPr algn="ctr">
              <a:defRPr sz="1200">
                <a:solidFill>
                  <a:srgbClr val="696C70"/>
                </a:solidFill>
                <a:latin typeface="Arial" panose="020B0604020202090204"/>
              </a:defRPr>
            </a:pPr>
            <a:r>
              <a:t>city = Jalandhar</a:t>
            </a:r>
            <a:br/>
            <a:r>
              <a:t>temp = 29.5</a:t>
            </a:r>
            <a:br/>
            <a:r>
              <a:t>humidity = 72</a:t>
            </a:r>
            <a:br/>
            <a:r>
              <a:t>timestamp = standard format</a:t>
            </a:r>
          </a:p>
        </p:txBody>
      </p:sp>
      <p:sp>
        <p:nvSpPr>
          <p:cNvPr id="10" name="TextBox 9"/>
          <p:cNvSpPr txBox="1"/>
          <p:nvPr/>
        </p:nvSpPr>
        <p:spPr>
          <a:xfrm>
            <a:off x="822960" y="4069080"/>
            <a:ext cx="10332720" cy="365760"/>
          </a:xfrm>
          <a:prstGeom prst="rect">
            <a:avLst/>
          </a:prstGeom>
          <a:noFill/>
        </p:spPr>
        <p:txBody>
          <a:bodyPr wrap="square" anchor="t">
            <a:spAutoFit/>
          </a:bodyPr>
          <a:lstStyle/>
          <a:p>
            <a:pPr algn="l">
              <a:defRPr sz="1800" b="1">
                <a:solidFill>
                  <a:srgbClr val="233448"/>
                </a:solidFill>
                <a:latin typeface="Arial" panose="020B0604020202090204"/>
              </a:defRPr>
            </a:pPr>
            <a:r>
              <a:t>Why process it before storage?</a:t>
            </a:r>
          </a:p>
        </p:txBody>
      </p:sp>
      <p:sp>
        <p:nvSpPr>
          <p:cNvPr id="11" name="TextBox 10"/>
          <p:cNvSpPr txBox="1"/>
          <p:nvPr/>
        </p:nvSpPr>
        <p:spPr>
          <a:xfrm>
            <a:off x="822960" y="4526280"/>
            <a:ext cx="10332720" cy="1097280"/>
          </a:xfrm>
          <a:prstGeom prst="rect">
            <a:avLst/>
          </a:prstGeom>
          <a:noFill/>
        </p:spPr>
        <p:txBody>
          <a:bodyPr wrap="square" anchor="t">
            <a:spAutoFit/>
          </a:bodyPr>
          <a:lstStyle/>
          <a:p>
            <a:pPr algn="l">
              <a:defRPr sz="1600" b="0">
                <a:solidFill>
                  <a:srgbClr val="30343A"/>
                </a:solidFill>
                <a:latin typeface="Arial" panose="020B0604020202090204"/>
              </a:defRPr>
            </a:pPr>
            <a:r>
              <a:t>The API gives us raw values. Processing turns them into consistent records that are easier to query, compare and visualize later.</a:t>
            </a:r>
          </a:p>
        </p:txBody>
      </p:sp>
      <p:sp>
        <p:nvSpPr>
          <p:cNvPr id="12" name="TextBox 11"/>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5. Why is each component there?</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Short explanations that are easy to defend</a:t>
            </a:r>
          </a:p>
        </p:txBody>
      </p:sp>
      <p:sp>
        <p:nvSpPr>
          <p:cNvPr id="5" name="Rectangle 4"/>
          <p:cNvSpPr/>
          <p:nvPr/>
        </p:nvSpPr>
        <p:spPr>
          <a:xfrm>
            <a:off x="731520" y="1353312"/>
            <a:ext cx="10744200" cy="749808"/>
          </a:xfrm>
          <a:prstGeom prst="rect">
            <a:avLst/>
          </a:prstGeom>
          <a:solidFill>
            <a:srgbClr val="FFFFFF"/>
          </a:solidFill>
          <a:ln>
            <a:solidFill>
              <a:srgbClr val="D6D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536192"/>
            <a:ext cx="2057400" cy="320040"/>
          </a:xfrm>
          <a:prstGeom prst="rect">
            <a:avLst/>
          </a:prstGeom>
          <a:noFill/>
        </p:spPr>
        <p:txBody>
          <a:bodyPr wrap="square" anchor="t">
            <a:spAutoFit/>
          </a:bodyPr>
          <a:lstStyle/>
          <a:p>
            <a:pPr algn="l">
              <a:defRPr sz="1450" b="1">
                <a:solidFill>
                  <a:srgbClr val="233448"/>
                </a:solidFill>
                <a:latin typeface="Arial" panose="020B0604020202090204"/>
              </a:defRPr>
            </a:pPr>
            <a:r>
              <a:t>Weather API</a:t>
            </a:r>
          </a:p>
        </p:txBody>
      </p:sp>
      <p:sp>
        <p:nvSpPr>
          <p:cNvPr id="7" name="TextBox 6"/>
          <p:cNvSpPr txBox="1"/>
          <p:nvPr/>
        </p:nvSpPr>
        <p:spPr>
          <a:xfrm>
            <a:off x="3108960" y="1499616"/>
            <a:ext cx="8001000" cy="438912"/>
          </a:xfrm>
          <a:prstGeom prst="rect">
            <a:avLst/>
          </a:prstGeom>
          <a:noFill/>
        </p:spPr>
        <p:txBody>
          <a:bodyPr wrap="square" anchor="t">
            <a:spAutoFit/>
          </a:bodyPr>
          <a:lstStyle/>
          <a:p>
            <a:pPr algn="l">
              <a:defRPr sz="1350" b="0">
                <a:solidFill>
                  <a:srgbClr val="30343A"/>
                </a:solidFill>
                <a:latin typeface="Arial" panose="020B0604020202090204"/>
              </a:defRPr>
            </a:pPr>
            <a:r>
              <a:t>It is the original source of the weather observations.</a:t>
            </a:r>
          </a:p>
        </p:txBody>
      </p:sp>
      <p:sp>
        <p:nvSpPr>
          <p:cNvPr id="8" name="Rectangle 7"/>
          <p:cNvSpPr/>
          <p:nvPr/>
        </p:nvSpPr>
        <p:spPr>
          <a:xfrm>
            <a:off x="731520" y="2249424"/>
            <a:ext cx="10744200" cy="749808"/>
          </a:xfrm>
          <a:prstGeom prst="rect">
            <a:avLst/>
          </a:prstGeom>
          <a:solidFill>
            <a:srgbClr val="F5F4F0"/>
          </a:solidFill>
          <a:ln>
            <a:solidFill>
              <a:srgbClr val="D6D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432304"/>
            <a:ext cx="2057400" cy="320040"/>
          </a:xfrm>
          <a:prstGeom prst="rect">
            <a:avLst/>
          </a:prstGeom>
          <a:noFill/>
        </p:spPr>
        <p:txBody>
          <a:bodyPr wrap="square" anchor="t">
            <a:spAutoFit/>
          </a:bodyPr>
          <a:lstStyle/>
          <a:p>
            <a:pPr algn="l">
              <a:defRPr sz="1450" b="1">
                <a:solidFill>
                  <a:srgbClr val="233448"/>
                </a:solidFill>
                <a:latin typeface="Arial" panose="020B0604020202090204"/>
              </a:defRPr>
            </a:pPr>
            <a:r>
              <a:t>Python</a:t>
            </a:r>
          </a:p>
        </p:txBody>
      </p:sp>
      <p:sp>
        <p:nvSpPr>
          <p:cNvPr id="10" name="TextBox 9"/>
          <p:cNvSpPr txBox="1"/>
          <p:nvPr/>
        </p:nvSpPr>
        <p:spPr>
          <a:xfrm>
            <a:off x="3108960" y="2395728"/>
            <a:ext cx="8001000" cy="438912"/>
          </a:xfrm>
          <a:prstGeom prst="rect">
            <a:avLst/>
          </a:prstGeom>
          <a:noFill/>
        </p:spPr>
        <p:txBody>
          <a:bodyPr wrap="square" anchor="t">
            <a:spAutoFit/>
          </a:bodyPr>
          <a:lstStyle/>
          <a:p>
            <a:pPr algn="l">
              <a:defRPr sz="1350" b="0">
                <a:solidFill>
                  <a:srgbClr val="30343A"/>
                </a:solidFill>
                <a:latin typeface="Arial" panose="020B0604020202090204"/>
              </a:defRPr>
            </a:pPr>
            <a:r>
              <a:t>It sends requests to the API and collects the returned data.</a:t>
            </a:r>
          </a:p>
        </p:txBody>
      </p:sp>
      <p:sp>
        <p:nvSpPr>
          <p:cNvPr id="11" name="Rectangle 10"/>
          <p:cNvSpPr/>
          <p:nvPr/>
        </p:nvSpPr>
        <p:spPr>
          <a:xfrm>
            <a:off x="731520" y="3145536"/>
            <a:ext cx="10744200" cy="749808"/>
          </a:xfrm>
          <a:prstGeom prst="rect">
            <a:avLst/>
          </a:prstGeom>
          <a:solidFill>
            <a:srgbClr val="FFFFFF"/>
          </a:solidFill>
          <a:ln>
            <a:solidFill>
              <a:srgbClr val="D6D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3328416"/>
            <a:ext cx="2057400" cy="320040"/>
          </a:xfrm>
          <a:prstGeom prst="rect">
            <a:avLst/>
          </a:prstGeom>
          <a:noFill/>
        </p:spPr>
        <p:txBody>
          <a:bodyPr wrap="square" anchor="t">
            <a:spAutoFit/>
          </a:bodyPr>
          <a:lstStyle/>
          <a:p>
            <a:pPr algn="l">
              <a:defRPr sz="1450" b="1">
                <a:solidFill>
                  <a:srgbClr val="233448"/>
                </a:solidFill>
                <a:latin typeface="Arial" panose="020B0604020202090204"/>
              </a:defRPr>
            </a:pPr>
            <a:r>
              <a:t>Pandas</a:t>
            </a:r>
          </a:p>
        </p:txBody>
      </p:sp>
      <p:sp>
        <p:nvSpPr>
          <p:cNvPr id="13" name="TextBox 12"/>
          <p:cNvSpPr txBox="1"/>
          <p:nvPr/>
        </p:nvSpPr>
        <p:spPr>
          <a:xfrm>
            <a:off x="3108960" y="3291840"/>
            <a:ext cx="8001000" cy="438912"/>
          </a:xfrm>
          <a:prstGeom prst="rect">
            <a:avLst/>
          </a:prstGeom>
          <a:noFill/>
        </p:spPr>
        <p:txBody>
          <a:bodyPr wrap="square" anchor="t">
            <a:spAutoFit/>
          </a:bodyPr>
          <a:lstStyle/>
          <a:p>
            <a:pPr algn="l">
              <a:defRPr sz="1350" b="0">
                <a:solidFill>
                  <a:srgbClr val="30343A"/>
                </a:solidFill>
                <a:latin typeface="Arial" panose="020B0604020202090204"/>
              </a:defRPr>
            </a:pPr>
            <a:r>
              <a:t>It cleans and reshapes the raw records before storage.</a:t>
            </a:r>
          </a:p>
        </p:txBody>
      </p:sp>
      <p:sp>
        <p:nvSpPr>
          <p:cNvPr id="14" name="Rectangle 13"/>
          <p:cNvSpPr/>
          <p:nvPr/>
        </p:nvSpPr>
        <p:spPr>
          <a:xfrm>
            <a:off x="731520" y="4041648"/>
            <a:ext cx="10744200" cy="749808"/>
          </a:xfrm>
          <a:prstGeom prst="rect">
            <a:avLst/>
          </a:prstGeom>
          <a:solidFill>
            <a:srgbClr val="F5F4F0"/>
          </a:solidFill>
          <a:ln>
            <a:solidFill>
              <a:srgbClr val="D6D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4224528"/>
            <a:ext cx="2057400" cy="320040"/>
          </a:xfrm>
          <a:prstGeom prst="rect">
            <a:avLst/>
          </a:prstGeom>
          <a:noFill/>
        </p:spPr>
        <p:txBody>
          <a:bodyPr wrap="square" anchor="t">
            <a:spAutoFit/>
          </a:bodyPr>
          <a:lstStyle/>
          <a:p>
            <a:pPr algn="l">
              <a:defRPr sz="1450" b="1">
                <a:solidFill>
                  <a:srgbClr val="233448"/>
                </a:solidFill>
                <a:latin typeface="Arial" panose="020B0604020202090204"/>
              </a:defRPr>
            </a:pPr>
            <a:r>
              <a:t>PostgreSQL</a:t>
            </a:r>
          </a:p>
        </p:txBody>
      </p:sp>
      <p:sp>
        <p:nvSpPr>
          <p:cNvPr id="16" name="TextBox 15"/>
          <p:cNvSpPr txBox="1"/>
          <p:nvPr/>
        </p:nvSpPr>
        <p:spPr>
          <a:xfrm>
            <a:off x="3108960" y="4187952"/>
            <a:ext cx="8001000" cy="438912"/>
          </a:xfrm>
          <a:prstGeom prst="rect">
            <a:avLst/>
          </a:prstGeom>
          <a:noFill/>
        </p:spPr>
        <p:txBody>
          <a:bodyPr wrap="square" anchor="t">
            <a:spAutoFit/>
          </a:bodyPr>
          <a:lstStyle/>
          <a:p>
            <a:pPr algn="l">
              <a:defRPr sz="1350" b="0">
                <a:solidFill>
                  <a:srgbClr val="30343A"/>
                </a:solidFill>
                <a:latin typeface="Arial" panose="020B0604020202090204"/>
              </a:defRPr>
            </a:pPr>
            <a:r>
              <a:t>It keeps the processed records so they can be queried later.</a:t>
            </a:r>
          </a:p>
        </p:txBody>
      </p:sp>
      <p:sp>
        <p:nvSpPr>
          <p:cNvPr id="17" name="Rectangle 16"/>
          <p:cNvSpPr/>
          <p:nvPr/>
        </p:nvSpPr>
        <p:spPr>
          <a:xfrm>
            <a:off x="731520" y="4937760"/>
            <a:ext cx="10744200" cy="749808"/>
          </a:xfrm>
          <a:prstGeom prst="rect">
            <a:avLst/>
          </a:prstGeom>
          <a:solidFill>
            <a:srgbClr val="FFFFFF"/>
          </a:solidFill>
          <a:ln>
            <a:solidFill>
              <a:srgbClr val="D6D3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5120640"/>
            <a:ext cx="2057400" cy="320040"/>
          </a:xfrm>
          <a:prstGeom prst="rect">
            <a:avLst/>
          </a:prstGeom>
          <a:noFill/>
        </p:spPr>
        <p:txBody>
          <a:bodyPr wrap="square" anchor="t">
            <a:spAutoFit/>
          </a:bodyPr>
          <a:lstStyle/>
          <a:p>
            <a:pPr algn="l">
              <a:defRPr sz="1450" b="1">
                <a:solidFill>
                  <a:srgbClr val="233448"/>
                </a:solidFill>
                <a:latin typeface="Arial" panose="020B0604020202090204"/>
              </a:defRPr>
            </a:pPr>
            <a:r>
              <a:t>Power BI</a:t>
            </a:r>
          </a:p>
        </p:txBody>
      </p:sp>
      <p:sp>
        <p:nvSpPr>
          <p:cNvPr id="19" name="TextBox 18"/>
          <p:cNvSpPr txBox="1"/>
          <p:nvPr/>
        </p:nvSpPr>
        <p:spPr>
          <a:xfrm>
            <a:off x="3108960" y="5084064"/>
            <a:ext cx="8001000" cy="438912"/>
          </a:xfrm>
          <a:prstGeom prst="rect">
            <a:avLst/>
          </a:prstGeom>
          <a:noFill/>
        </p:spPr>
        <p:txBody>
          <a:bodyPr wrap="square" anchor="t">
            <a:spAutoFit/>
          </a:bodyPr>
          <a:lstStyle/>
          <a:p>
            <a:pPr algn="l">
              <a:defRPr sz="1350" b="0">
                <a:solidFill>
                  <a:srgbClr val="30343A"/>
                </a:solidFill>
                <a:latin typeface="Arial" panose="020B0604020202090204"/>
              </a:defRPr>
            </a:pPr>
            <a:r>
              <a:t>It turns the stored data into charts and a dashboard.</a:t>
            </a:r>
          </a:p>
        </p:txBody>
      </p:sp>
      <p:sp>
        <p:nvSpPr>
          <p:cNvPr id="20" name="TextBox 19"/>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6. Question Log</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Questions that came up while making the design</a:t>
            </a:r>
          </a:p>
        </p:txBody>
      </p:sp>
      <p:sp>
        <p:nvSpPr>
          <p:cNvPr id="5" name="Rectangle 4"/>
          <p:cNvSpPr/>
          <p:nvPr/>
        </p:nvSpPr>
        <p:spPr>
          <a:xfrm>
            <a:off x="822960" y="1371600"/>
            <a:ext cx="438912" cy="438912"/>
          </a:xfrm>
          <a:prstGeom prst="rect">
            <a:avLst/>
          </a:prstGeom>
          <a:solidFill>
            <a:srgbClr val="4B7DAA"/>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0343A"/>
                </a:solidFill>
                <a:latin typeface="Arial" panose="020B0604020202090204"/>
              </a:defRPr>
            </a:pPr>
            <a:r>
              <a:t>1</a:t>
            </a:r>
          </a:p>
        </p:txBody>
      </p:sp>
      <p:sp>
        <p:nvSpPr>
          <p:cNvPr id="6" name="TextBox 5"/>
          <p:cNvSpPr txBox="1"/>
          <p:nvPr/>
        </p:nvSpPr>
        <p:spPr>
          <a:xfrm>
            <a:off x="1444752" y="1353312"/>
            <a:ext cx="9875520" cy="502920"/>
          </a:xfrm>
          <a:prstGeom prst="rect">
            <a:avLst/>
          </a:prstGeom>
          <a:noFill/>
        </p:spPr>
        <p:txBody>
          <a:bodyPr wrap="square" anchor="t">
            <a:spAutoFit/>
          </a:bodyPr>
          <a:lstStyle/>
          <a:p>
            <a:pPr algn="l">
              <a:defRPr sz="1500" b="0">
                <a:solidFill>
                  <a:srgbClr val="30343A"/>
                </a:solidFill>
                <a:latin typeface="Arial" panose="020B0604020202090204"/>
              </a:defRPr>
            </a:pPr>
            <a:r>
              <a:t>Why can't the dashboard just read the API directly?</a:t>
            </a:r>
          </a:p>
        </p:txBody>
      </p:sp>
      <p:sp>
        <p:nvSpPr>
          <p:cNvPr id="7" name="Rectangle 6"/>
          <p:cNvSpPr/>
          <p:nvPr/>
        </p:nvSpPr>
        <p:spPr>
          <a:xfrm>
            <a:off x="822960" y="2231136"/>
            <a:ext cx="438912" cy="438912"/>
          </a:xfrm>
          <a:prstGeom prst="rect">
            <a:avLst/>
          </a:prstGeom>
          <a:solidFill>
            <a:srgbClr val="4B7DAA"/>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0343A"/>
                </a:solidFill>
                <a:latin typeface="Arial" panose="020B0604020202090204"/>
              </a:defRPr>
            </a:pPr>
            <a:r>
              <a:t>2</a:t>
            </a:r>
          </a:p>
        </p:txBody>
      </p:sp>
      <p:sp>
        <p:nvSpPr>
          <p:cNvPr id="8" name="TextBox 7"/>
          <p:cNvSpPr txBox="1"/>
          <p:nvPr/>
        </p:nvSpPr>
        <p:spPr>
          <a:xfrm>
            <a:off x="1444752" y="2212848"/>
            <a:ext cx="9875520" cy="502920"/>
          </a:xfrm>
          <a:prstGeom prst="rect">
            <a:avLst/>
          </a:prstGeom>
          <a:noFill/>
        </p:spPr>
        <p:txBody>
          <a:bodyPr wrap="square" anchor="t">
            <a:spAutoFit/>
          </a:bodyPr>
          <a:lstStyle/>
          <a:p>
            <a:pPr algn="l">
              <a:defRPr sz="1500" b="0">
                <a:solidFill>
                  <a:srgbClr val="30343A"/>
                </a:solidFill>
                <a:latin typeface="Arial" panose="020B0604020202090204"/>
              </a:defRPr>
            </a:pPr>
            <a:r>
              <a:t>What is the point of processing if the API already returns JSON?</a:t>
            </a:r>
          </a:p>
        </p:txBody>
      </p:sp>
      <p:sp>
        <p:nvSpPr>
          <p:cNvPr id="9" name="Rectangle 8"/>
          <p:cNvSpPr/>
          <p:nvPr/>
        </p:nvSpPr>
        <p:spPr>
          <a:xfrm>
            <a:off x="822960" y="3090672"/>
            <a:ext cx="438912" cy="438912"/>
          </a:xfrm>
          <a:prstGeom prst="rect">
            <a:avLst/>
          </a:prstGeom>
          <a:solidFill>
            <a:srgbClr val="4B7DAA"/>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0343A"/>
                </a:solidFill>
                <a:latin typeface="Arial" panose="020B0604020202090204"/>
              </a:defRPr>
            </a:pPr>
            <a:r>
              <a:t>3</a:t>
            </a:r>
          </a:p>
        </p:txBody>
      </p:sp>
      <p:sp>
        <p:nvSpPr>
          <p:cNvPr id="10" name="TextBox 9"/>
          <p:cNvSpPr txBox="1"/>
          <p:nvPr/>
        </p:nvSpPr>
        <p:spPr>
          <a:xfrm>
            <a:off x="1444752" y="3072384"/>
            <a:ext cx="9875520" cy="502920"/>
          </a:xfrm>
          <a:prstGeom prst="rect">
            <a:avLst/>
          </a:prstGeom>
          <a:noFill/>
        </p:spPr>
        <p:txBody>
          <a:bodyPr wrap="square" anchor="t">
            <a:spAutoFit/>
          </a:bodyPr>
          <a:lstStyle/>
          <a:p>
            <a:pPr algn="l">
              <a:defRPr sz="1500" b="0">
                <a:solidFill>
                  <a:srgbClr val="30343A"/>
                </a:solidFill>
                <a:latin typeface="Arial" panose="020B0604020202090204"/>
              </a:defRPr>
            </a:pPr>
            <a:r>
              <a:t>Why keep the data after the dashboard has used it once?</a:t>
            </a:r>
          </a:p>
        </p:txBody>
      </p:sp>
      <p:sp>
        <p:nvSpPr>
          <p:cNvPr id="11" name="Rectangle 10"/>
          <p:cNvSpPr/>
          <p:nvPr/>
        </p:nvSpPr>
        <p:spPr>
          <a:xfrm>
            <a:off x="822960" y="3950208"/>
            <a:ext cx="438912" cy="438912"/>
          </a:xfrm>
          <a:prstGeom prst="rect">
            <a:avLst/>
          </a:prstGeom>
          <a:solidFill>
            <a:srgbClr val="4B7DAA"/>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0343A"/>
                </a:solidFill>
                <a:latin typeface="Arial" panose="020B0604020202090204"/>
              </a:defRPr>
            </a:pPr>
            <a:r>
              <a:t>4</a:t>
            </a:r>
          </a:p>
        </p:txBody>
      </p:sp>
      <p:sp>
        <p:nvSpPr>
          <p:cNvPr id="12" name="TextBox 11"/>
          <p:cNvSpPr txBox="1"/>
          <p:nvPr/>
        </p:nvSpPr>
        <p:spPr>
          <a:xfrm>
            <a:off x="1444752" y="3931920"/>
            <a:ext cx="9875520" cy="502920"/>
          </a:xfrm>
          <a:prstGeom prst="rect">
            <a:avLst/>
          </a:prstGeom>
          <a:noFill/>
        </p:spPr>
        <p:txBody>
          <a:bodyPr wrap="square" anchor="t">
            <a:spAutoFit/>
          </a:bodyPr>
          <a:lstStyle/>
          <a:p>
            <a:pPr algn="l">
              <a:defRPr sz="1500" b="0">
                <a:solidFill>
                  <a:srgbClr val="30343A"/>
                </a:solidFill>
                <a:latin typeface="Arial" panose="020B0604020202090204"/>
              </a:defRPr>
            </a:pPr>
            <a:r>
              <a:t>Why is a relational database enough for this use case?</a:t>
            </a:r>
          </a:p>
        </p:txBody>
      </p:sp>
      <p:sp>
        <p:nvSpPr>
          <p:cNvPr id="13" name="Rectangle 12"/>
          <p:cNvSpPr/>
          <p:nvPr/>
        </p:nvSpPr>
        <p:spPr>
          <a:xfrm>
            <a:off x="822960" y="4809744"/>
            <a:ext cx="438912" cy="438912"/>
          </a:xfrm>
          <a:prstGeom prst="rect">
            <a:avLst/>
          </a:prstGeom>
          <a:solidFill>
            <a:srgbClr val="4B7DAA"/>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30343A"/>
                </a:solidFill>
                <a:latin typeface="Arial" panose="020B0604020202090204"/>
              </a:defRPr>
            </a:pPr>
            <a:r>
              <a:t>5</a:t>
            </a:r>
          </a:p>
        </p:txBody>
      </p:sp>
      <p:sp>
        <p:nvSpPr>
          <p:cNvPr id="14" name="TextBox 13"/>
          <p:cNvSpPr txBox="1"/>
          <p:nvPr/>
        </p:nvSpPr>
        <p:spPr>
          <a:xfrm>
            <a:off x="1444752" y="4791456"/>
            <a:ext cx="9875520" cy="502920"/>
          </a:xfrm>
          <a:prstGeom prst="rect">
            <a:avLst/>
          </a:prstGeom>
          <a:noFill/>
        </p:spPr>
        <p:txBody>
          <a:bodyPr wrap="square" anchor="t">
            <a:spAutoFit/>
          </a:bodyPr>
          <a:lstStyle/>
          <a:p>
            <a:pPr algn="l">
              <a:defRPr sz="1500" b="0">
                <a:solidFill>
                  <a:srgbClr val="30343A"/>
                </a:solidFill>
                <a:latin typeface="Arial" panose="020B0604020202090204"/>
              </a:defRPr>
            </a:pPr>
            <a:r>
              <a:t>What should happen if the API returns a missing or invalid value?</a:t>
            </a:r>
          </a:p>
        </p:txBody>
      </p:sp>
      <p:sp>
        <p:nvSpPr>
          <p:cNvPr id="15" name="TextBox 14"/>
          <p:cNvSpPr txBox="1"/>
          <p:nvPr/>
        </p:nvSpPr>
        <p:spPr>
          <a:xfrm>
            <a:off x="822960" y="5715000"/>
            <a:ext cx="10515600" cy="320040"/>
          </a:xfrm>
          <a:prstGeom prst="rect">
            <a:avLst/>
          </a:prstGeom>
          <a:noFill/>
        </p:spPr>
        <p:txBody>
          <a:bodyPr wrap="square" anchor="t">
            <a:spAutoFit/>
          </a:bodyPr>
          <a:lstStyle/>
          <a:p>
            <a:pPr algn="l">
              <a:defRPr sz="1250" b="0">
                <a:solidFill>
                  <a:srgbClr val="696C70"/>
                </a:solidFill>
                <a:latin typeface="Arial" panose="020B0604020202090204"/>
              </a:defRPr>
            </a:pPr>
            <a:r>
              <a:t>These questions can be answered from the research used to make the design.</a:t>
            </a:r>
          </a:p>
        </p:txBody>
      </p:sp>
      <p:sp>
        <p:nvSpPr>
          <p:cNvPr id="16" name="TextBox 15"/>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7. Final Architecture Explanation</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The whole pipeline in one story</a:t>
            </a:r>
          </a:p>
        </p:txBody>
      </p:sp>
      <p:sp>
        <p:nvSpPr>
          <p:cNvPr id="5" name="Rectangle 4"/>
          <p:cNvSpPr/>
          <p:nvPr/>
        </p:nvSpPr>
        <p:spPr>
          <a:xfrm>
            <a:off x="502920" y="1417320"/>
            <a:ext cx="2057400" cy="1005840"/>
          </a:xfrm>
          <a:prstGeom prst="rect">
            <a:avLst/>
          </a:prstGeom>
          <a:solidFill>
            <a:srgbClr val="FFFFFF"/>
          </a:solidFill>
          <a:ln w="15240">
            <a:solidFill>
              <a:srgbClr val="4B7D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30343A"/>
                </a:solidFill>
                <a:latin typeface="Arial" panose="020B0604020202090204"/>
              </a:defRPr>
            </a:pPr>
            <a:r>
              <a:t>SOURCE</a:t>
            </a:r>
          </a:p>
          <a:p>
            <a:pPr algn="ctr">
              <a:defRPr sz="1050">
                <a:solidFill>
                  <a:srgbClr val="696C70"/>
                </a:solidFill>
                <a:latin typeface="Arial" panose="020B0604020202090204"/>
              </a:defRPr>
            </a:pPr>
            <a:r>
              <a:t>Weather API</a:t>
            </a:r>
          </a:p>
        </p:txBody>
      </p:sp>
      <p:sp>
        <p:nvSpPr>
          <p:cNvPr id="6" name="TextBox 5"/>
          <p:cNvSpPr txBox="1"/>
          <p:nvPr/>
        </p:nvSpPr>
        <p:spPr>
          <a:xfrm>
            <a:off x="2578608" y="1755648"/>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7" name="Rectangle 6"/>
          <p:cNvSpPr/>
          <p:nvPr/>
        </p:nvSpPr>
        <p:spPr>
          <a:xfrm>
            <a:off x="2834639" y="1417320"/>
            <a:ext cx="2057400" cy="1005840"/>
          </a:xfrm>
          <a:prstGeom prst="rect">
            <a:avLst/>
          </a:prstGeom>
          <a:solidFill>
            <a:srgbClr val="FFFFFF"/>
          </a:solidFill>
          <a:ln w="15240">
            <a:solidFill>
              <a:srgbClr val="52846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30343A"/>
                </a:solidFill>
                <a:latin typeface="Arial" panose="020B0604020202090204"/>
              </a:defRPr>
            </a:pPr>
            <a:r>
              <a:t>MOVE</a:t>
            </a:r>
          </a:p>
          <a:p>
            <a:pPr algn="ctr">
              <a:defRPr sz="1050">
                <a:solidFill>
                  <a:srgbClr val="696C70"/>
                </a:solidFill>
                <a:latin typeface="Arial" panose="020B0604020202090204"/>
              </a:defRPr>
            </a:pPr>
            <a:r>
              <a:t>Python</a:t>
            </a:r>
          </a:p>
        </p:txBody>
      </p:sp>
      <p:sp>
        <p:nvSpPr>
          <p:cNvPr id="8" name="TextBox 7"/>
          <p:cNvSpPr txBox="1"/>
          <p:nvPr/>
        </p:nvSpPr>
        <p:spPr>
          <a:xfrm>
            <a:off x="4910327" y="1755648"/>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9" name="Rectangle 8"/>
          <p:cNvSpPr/>
          <p:nvPr/>
        </p:nvSpPr>
        <p:spPr>
          <a:xfrm>
            <a:off x="5166359" y="1417320"/>
            <a:ext cx="2057400" cy="1005840"/>
          </a:xfrm>
          <a:prstGeom prst="rect">
            <a:avLst/>
          </a:prstGeom>
          <a:solidFill>
            <a:srgbClr val="FFFFFF"/>
          </a:solidFill>
          <a:ln w="15240">
            <a:solidFill>
              <a:srgbClr val="BE80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30343A"/>
                </a:solidFill>
                <a:latin typeface="Arial" panose="020B0604020202090204"/>
              </a:defRPr>
            </a:pPr>
            <a:r>
              <a:t>PROCESS</a:t>
            </a:r>
          </a:p>
          <a:p>
            <a:pPr algn="ctr">
              <a:defRPr sz="1050">
                <a:solidFill>
                  <a:srgbClr val="696C70"/>
                </a:solidFill>
                <a:latin typeface="Arial" panose="020B0604020202090204"/>
              </a:defRPr>
            </a:pPr>
            <a:r>
              <a:t>Pandas</a:t>
            </a:r>
          </a:p>
        </p:txBody>
      </p:sp>
      <p:sp>
        <p:nvSpPr>
          <p:cNvPr id="10" name="TextBox 9"/>
          <p:cNvSpPr txBox="1"/>
          <p:nvPr/>
        </p:nvSpPr>
        <p:spPr>
          <a:xfrm>
            <a:off x="7242048" y="1755648"/>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11" name="Rectangle 10"/>
          <p:cNvSpPr/>
          <p:nvPr/>
        </p:nvSpPr>
        <p:spPr>
          <a:xfrm>
            <a:off x="7498079" y="1417320"/>
            <a:ext cx="2057400" cy="1005840"/>
          </a:xfrm>
          <a:prstGeom prst="rect">
            <a:avLst/>
          </a:prstGeom>
          <a:solidFill>
            <a:srgbClr val="FFFFFF"/>
          </a:solidFill>
          <a:ln w="15240">
            <a:solidFill>
              <a:srgbClr val="74649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30343A"/>
                </a:solidFill>
                <a:latin typeface="Arial" panose="020B0604020202090204"/>
              </a:defRPr>
            </a:pPr>
            <a:r>
              <a:t>STORE</a:t>
            </a:r>
          </a:p>
          <a:p>
            <a:pPr algn="ctr">
              <a:defRPr sz="1050">
                <a:solidFill>
                  <a:srgbClr val="696C70"/>
                </a:solidFill>
                <a:latin typeface="Arial" panose="020B0604020202090204"/>
              </a:defRPr>
            </a:pPr>
            <a:r>
              <a:t>PostgreSQL</a:t>
            </a:r>
          </a:p>
        </p:txBody>
      </p:sp>
      <p:sp>
        <p:nvSpPr>
          <p:cNvPr id="12" name="TextBox 11"/>
          <p:cNvSpPr txBox="1"/>
          <p:nvPr/>
        </p:nvSpPr>
        <p:spPr>
          <a:xfrm>
            <a:off x="9573767" y="1755648"/>
            <a:ext cx="320040" cy="320040"/>
          </a:xfrm>
          <a:prstGeom prst="rect">
            <a:avLst/>
          </a:prstGeom>
          <a:noFill/>
        </p:spPr>
        <p:txBody>
          <a:bodyPr wrap="square" anchor="t">
            <a:spAutoFit/>
          </a:bodyPr>
          <a:lstStyle/>
          <a:p>
            <a:pPr algn="ctr">
              <a:defRPr sz="1900" b="1">
                <a:solidFill>
                  <a:srgbClr val="696C70"/>
                </a:solidFill>
                <a:latin typeface="Arial" panose="020B0604020202090204"/>
              </a:defRPr>
            </a:pPr>
            <a:r>
              <a:t>→</a:t>
            </a:r>
          </a:p>
        </p:txBody>
      </p:sp>
      <p:sp>
        <p:nvSpPr>
          <p:cNvPr id="13" name="Rectangle 12"/>
          <p:cNvSpPr/>
          <p:nvPr/>
        </p:nvSpPr>
        <p:spPr>
          <a:xfrm>
            <a:off x="9829800" y="1417320"/>
            <a:ext cx="2057400" cy="1005840"/>
          </a:xfrm>
          <a:prstGeom prst="rect">
            <a:avLst/>
          </a:prstGeom>
          <a:solidFill>
            <a:srgbClr val="FFFFFF"/>
          </a:solidFill>
          <a:ln w="15240">
            <a:solidFill>
              <a:srgbClr val="A554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30343A"/>
                </a:solidFill>
                <a:latin typeface="Arial" panose="020B0604020202090204"/>
              </a:defRPr>
            </a:pPr>
            <a:r>
              <a:t>USE</a:t>
            </a:r>
          </a:p>
          <a:p>
            <a:pPr algn="ctr">
              <a:defRPr sz="1050">
                <a:solidFill>
                  <a:srgbClr val="696C70"/>
                </a:solidFill>
                <a:latin typeface="Arial" panose="020B0604020202090204"/>
              </a:defRPr>
            </a:pPr>
            <a:r>
              <a:t>Power BI</a:t>
            </a:r>
          </a:p>
        </p:txBody>
      </p:sp>
      <p:sp>
        <p:nvSpPr>
          <p:cNvPr id="14" name="TextBox 13"/>
          <p:cNvSpPr txBox="1"/>
          <p:nvPr/>
        </p:nvSpPr>
        <p:spPr>
          <a:xfrm>
            <a:off x="914400" y="2926080"/>
            <a:ext cx="10332720" cy="365760"/>
          </a:xfrm>
          <a:prstGeom prst="rect">
            <a:avLst/>
          </a:prstGeom>
          <a:noFill/>
        </p:spPr>
        <p:txBody>
          <a:bodyPr wrap="square" anchor="t">
            <a:spAutoFit/>
          </a:bodyPr>
          <a:lstStyle/>
          <a:p>
            <a:pPr algn="l">
              <a:defRPr sz="2000" b="1">
                <a:solidFill>
                  <a:srgbClr val="233448"/>
                </a:solidFill>
                <a:latin typeface="Arial" panose="020B0604020202090204"/>
              </a:defRPr>
            </a:pPr>
            <a:r>
              <a:t>My explanation</a:t>
            </a:r>
          </a:p>
        </p:txBody>
      </p:sp>
      <p:sp>
        <p:nvSpPr>
          <p:cNvPr id="15" name="Rectangle 14"/>
          <p:cNvSpPr/>
          <p:nvPr/>
        </p:nvSpPr>
        <p:spPr>
          <a:xfrm>
            <a:off x="914400" y="3474720"/>
            <a:ext cx="10332720" cy="1508760"/>
          </a:xfrm>
          <a:prstGeom prst="rect">
            <a:avLst/>
          </a:prstGeom>
          <a:solidFill>
            <a:srgbClr val="FFFFFF"/>
          </a:solidFill>
          <a:ln w="15240">
            <a:solidFill>
              <a:srgbClr val="D6D3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 b="1">
                <a:solidFill>
                  <a:srgbClr val="30343A"/>
                </a:solidFill>
                <a:latin typeface="Arial" panose="020B0604020202090204"/>
              </a:defRPr>
            </a:pPr>
          </a:p>
          <a:p>
            <a:pPr algn="ctr">
              <a:defRPr sz="1600">
                <a:solidFill>
                  <a:srgbClr val="696C70"/>
                </a:solidFill>
                <a:latin typeface="Arial" panose="020B0604020202090204"/>
              </a:defRPr>
            </a:pPr>
            <a:r>
              <a:t>The Weather API is where the data starts. Python collects the responses and passes them to Pandas. Pandas cleans and standardizes the records. PostgreSQL keeps the processed data so the dashboard does not depend on the API every time. Finally, Power BI reads the stored data and shows useful trends.</a:t>
            </a:r>
          </a:p>
        </p:txBody>
      </p:sp>
      <p:sp>
        <p:nvSpPr>
          <p:cNvPr id="16" name="TextBox 15"/>
          <p:cNvSpPr txBox="1"/>
          <p:nvPr/>
        </p:nvSpPr>
        <p:spPr>
          <a:xfrm>
            <a:off x="1005840" y="5532120"/>
            <a:ext cx="10058400" cy="365760"/>
          </a:xfrm>
          <a:prstGeom prst="rect">
            <a:avLst/>
          </a:prstGeom>
          <a:noFill/>
        </p:spPr>
        <p:txBody>
          <a:bodyPr wrap="square" anchor="t">
            <a:spAutoFit/>
          </a:bodyPr>
          <a:lstStyle/>
          <a:p>
            <a:pPr algn="ctr">
              <a:defRPr sz="2000" b="1">
                <a:solidFill>
                  <a:srgbClr val="233448"/>
                </a:solidFill>
                <a:latin typeface="Arial" panose="020B0604020202090204"/>
              </a:defRPr>
            </a:pPr>
            <a:r>
              <a:t>Source → Movement → Processing → Storage → Usage</a:t>
            </a:r>
          </a:p>
        </p:txBody>
      </p:sp>
      <p:sp>
        <p:nvSpPr>
          <p:cNvPr id="17" name="TextBox 16"/>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47472"/>
            <a:ext cx="10881360" cy="502920"/>
          </a:xfrm>
          <a:prstGeom prst="rect">
            <a:avLst/>
          </a:prstGeom>
          <a:noFill/>
        </p:spPr>
        <p:txBody>
          <a:bodyPr wrap="square" anchor="t">
            <a:spAutoFit/>
          </a:bodyPr>
          <a:lstStyle/>
          <a:p>
            <a:pPr algn="l">
              <a:defRPr sz="2800" b="1">
                <a:solidFill>
                  <a:srgbClr val="233448"/>
                </a:solidFill>
                <a:latin typeface="Arial" panose="020B0604020202090204"/>
              </a:defRPr>
            </a:pPr>
            <a:r>
              <a:t>8. What I would say in the viva</a:t>
            </a:r>
          </a:p>
        </p:txBody>
      </p:sp>
      <p:sp>
        <p:nvSpPr>
          <p:cNvPr id="4" name="TextBox 3"/>
          <p:cNvSpPr txBox="1"/>
          <p:nvPr/>
        </p:nvSpPr>
        <p:spPr>
          <a:xfrm>
            <a:off x="658368" y="896112"/>
            <a:ext cx="10698480" cy="320040"/>
          </a:xfrm>
          <a:prstGeom prst="rect">
            <a:avLst/>
          </a:prstGeom>
          <a:noFill/>
        </p:spPr>
        <p:txBody>
          <a:bodyPr wrap="square" anchor="t">
            <a:spAutoFit/>
          </a:bodyPr>
          <a:lstStyle/>
          <a:p>
            <a:pPr algn="l">
              <a:defRPr sz="1250" b="0">
                <a:solidFill>
                  <a:srgbClr val="696C70"/>
                </a:solidFill>
                <a:latin typeface="Arial" panose="020B0604020202090204"/>
              </a:defRPr>
            </a:pPr>
            <a:r>
              <a:t>Simple answers are better than memorized technology names</a:t>
            </a:r>
          </a:p>
        </p:txBody>
      </p:sp>
      <p:sp>
        <p:nvSpPr>
          <p:cNvPr id="5" name="Rectangle 4"/>
          <p:cNvSpPr/>
          <p:nvPr/>
        </p:nvSpPr>
        <p:spPr>
          <a:xfrm>
            <a:off x="777240" y="1417320"/>
            <a:ext cx="3246120" cy="1280160"/>
          </a:xfrm>
          <a:prstGeom prst="rect">
            <a:avLst/>
          </a:prstGeom>
          <a:solidFill>
            <a:srgbClr val="ECF4EE"/>
          </a:solidFill>
          <a:ln w="15240">
            <a:solidFill>
              <a:srgbClr val="52846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30343A"/>
                </a:solidFill>
                <a:latin typeface="Arial" panose="020B0604020202090204"/>
              </a:defRPr>
            </a:pPr>
            <a:r>
              <a:t>Why Python?</a:t>
            </a:r>
          </a:p>
          <a:p>
            <a:pPr algn="ctr">
              <a:defRPr sz="1100">
                <a:solidFill>
                  <a:srgbClr val="696C70"/>
                </a:solidFill>
                <a:latin typeface="Arial" panose="020B0604020202090204"/>
              </a:defRPr>
            </a:pPr>
            <a:r>
              <a:t>Simple way to call the API.</a:t>
            </a:r>
          </a:p>
        </p:txBody>
      </p:sp>
      <p:sp>
        <p:nvSpPr>
          <p:cNvPr id="6" name="Rectangle 5"/>
          <p:cNvSpPr/>
          <p:nvPr/>
        </p:nvSpPr>
        <p:spPr>
          <a:xfrm>
            <a:off x="4480560" y="1417320"/>
            <a:ext cx="3246120" cy="1280160"/>
          </a:xfrm>
          <a:prstGeom prst="rect">
            <a:avLst/>
          </a:prstGeom>
          <a:solidFill>
            <a:srgbClr val="F9F0E5"/>
          </a:solidFill>
          <a:ln w="15240">
            <a:solidFill>
              <a:srgbClr val="BE804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30343A"/>
                </a:solidFill>
                <a:latin typeface="Arial" panose="020B0604020202090204"/>
              </a:defRPr>
            </a:pPr>
            <a:r>
              <a:t>Why Pandas?</a:t>
            </a:r>
          </a:p>
          <a:p>
            <a:pPr algn="ctr">
              <a:defRPr sz="1100">
                <a:solidFill>
                  <a:srgbClr val="696C70"/>
                </a:solidFill>
                <a:latin typeface="Arial" panose="020B0604020202090204"/>
              </a:defRPr>
            </a:pPr>
            <a:r>
              <a:t>Easy cleaning and transformation.</a:t>
            </a:r>
          </a:p>
        </p:txBody>
      </p:sp>
      <p:sp>
        <p:nvSpPr>
          <p:cNvPr id="7" name="Rectangle 6"/>
          <p:cNvSpPr/>
          <p:nvPr/>
        </p:nvSpPr>
        <p:spPr>
          <a:xfrm>
            <a:off x="8183879" y="1417320"/>
            <a:ext cx="3246120" cy="1280160"/>
          </a:xfrm>
          <a:prstGeom prst="rect">
            <a:avLst/>
          </a:prstGeom>
          <a:solidFill>
            <a:srgbClr val="F1EEF7"/>
          </a:solidFill>
          <a:ln w="15240">
            <a:solidFill>
              <a:srgbClr val="74649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30343A"/>
                </a:solidFill>
                <a:latin typeface="Arial" panose="020B0604020202090204"/>
              </a:defRPr>
            </a:pPr>
            <a:r>
              <a:t>Why PostgreSQL?</a:t>
            </a:r>
          </a:p>
          <a:p>
            <a:pPr algn="ctr">
              <a:defRPr sz="1100">
                <a:solidFill>
                  <a:srgbClr val="696C70"/>
                </a:solidFill>
                <a:latin typeface="Arial" panose="020B0604020202090204"/>
              </a:defRPr>
            </a:pPr>
            <a:r>
              <a:t>Structured storage + SQL queries.</a:t>
            </a:r>
          </a:p>
        </p:txBody>
      </p:sp>
      <p:sp>
        <p:nvSpPr>
          <p:cNvPr id="8" name="TextBox 7"/>
          <p:cNvSpPr txBox="1"/>
          <p:nvPr/>
        </p:nvSpPr>
        <p:spPr>
          <a:xfrm>
            <a:off x="868680" y="3154680"/>
            <a:ext cx="10332720" cy="365760"/>
          </a:xfrm>
          <a:prstGeom prst="rect">
            <a:avLst/>
          </a:prstGeom>
          <a:noFill/>
        </p:spPr>
        <p:txBody>
          <a:bodyPr wrap="square" anchor="t">
            <a:spAutoFit/>
          </a:bodyPr>
          <a:lstStyle/>
          <a:p>
            <a:pPr algn="l">
              <a:defRPr sz="1900" b="1">
                <a:solidFill>
                  <a:srgbClr val="233448"/>
                </a:solidFill>
                <a:latin typeface="Arial" panose="020B0604020202090204"/>
              </a:defRPr>
            </a:pPr>
            <a:r>
              <a:t>The main idea I should be able to explain:</a:t>
            </a:r>
          </a:p>
        </p:txBody>
      </p:sp>
      <p:sp>
        <p:nvSpPr>
          <p:cNvPr id="9" name="TextBox 8"/>
          <p:cNvSpPr txBox="1"/>
          <p:nvPr/>
        </p:nvSpPr>
        <p:spPr>
          <a:xfrm>
            <a:off x="914400" y="3703320"/>
            <a:ext cx="10241280" cy="1234440"/>
          </a:xfrm>
          <a:prstGeom prst="rect">
            <a:avLst/>
          </a:prstGeom>
          <a:noFill/>
        </p:spPr>
        <p:txBody>
          <a:bodyPr wrap="square" anchor="t">
            <a:spAutoFit/>
          </a:bodyPr>
          <a:lstStyle/>
          <a:p>
            <a:pPr algn="l">
              <a:defRPr sz="1700" b="0">
                <a:solidFill>
                  <a:srgbClr val="30343A"/>
                </a:solidFill>
                <a:latin typeface="Arial" panose="020B0604020202090204"/>
              </a:defRPr>
            </a:pPr>
            <a:r>
              <a:t>Each stage has a different job. The source produces data, ingestion brings it in, processing makes it usable, storage keeps it available, and the consumer turns it into something people can use.</a:t>
            </a:r>
          </a:p>
        </p:txBody>
      </p:sp>
      <p:sp>
        <p:nvSpPr>
          <p:cNvPr id="10" name="TextBox 9"/>
          <p:cNvSpPr txBox="1"/>
          <p:nvPr/>
        </p:nvSpPr>
        <p:spPr>
          <a:xfrm>
            <a:off x="914400" y="5349240"/>
            <a:ext cx="10241280" cy="457200"/>
          </a:xfrm>
          <a:prstGeom prst="rect">
            <a:avLst/>
          </a:prstGeom>
          <a:noFill/>
        </p:spPr>
        <p:txBody>
          <a:bodyPr wrap="square" anchor="t">
            <a:spAutoFit/>
          </a:bodyPr>
          <a:lstStyle/>
          <a:p>
            <a:pPr algn="l">
              <a:defRPr sz="1400" b="0">
                <a:solidFill>
                  <a:srgbClr val="696C70"/>
                </a:solidFill>
                <a:latin typeface="Arial" panose="020B0604020202090204"/>
              </a:defRPr>
            </a:pPr>
            <a:r>
              <a:t>I chose a simple design because the assignment values clear reasoning over unnecessary complexity.</a:t>
            </a:r>
          </a:p>
        </p:txBody>
      </p:sp>
      <p:sp>
        <p:nvSpPr>
          <p:cNvPr id="11" name="TextBox 10"/>
          <p:cNvSpPr txBox="1"/>
          <p:nvPr/>
        </p:nvSpPr>
        <p:spPr>
          <a:xfrm>
            <a:off x="640080" y="6446520"/>
            <a:ext cx="10789920" cy="201168"/>
          </a:xfrm>
          <a:prstGeom prst="rect">
            <a:avLst/>
          </a:prstGeom>
          <a:noFill/>
        </p:spPr>
        <p:txBody>
          <a:bodyPr wrap="square" anchor="t">
            <a:spAutoFit/>
          </a:bodyPr>
          <a:lstStyle/>
          <a:p>
            <a:pPr algn="l">
              <a:defRPr sz="850" b="0">
                <a:solidFill>
                  <a:srgbClr val="696C70"/>
                </a:solidFill>
                <a:latin typeface="Arial" panose="020B0604020202090204"/>
              </a:defRPr>
            </a:pPr>
            <a:r>
              <a:t>Data Pipeline Design • Weather Analytics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4556</Words>
  <Application>WPS Presentation</Application>
  <PresentationFormat>On-screen Show (4:3)</PresentationFormat>
  <Paragraphs>238</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SimSun</vt:lpstr>
      <vt:lpstr>Wingdings</vt:lpstr>
      <vt:lpstr>Arial</vt:lpstr>
      <vt:lpstr>Calibri</vt:lpstr>
      <vt:lpstr>Helvetica Neue</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Prabhnoor Singh</cp:lastModifiedBy>
  <cp:revision>2</cp:revision>
  <dcterms:created xsi:type="dcterms:W3CDTF">2026-10-06T15:42:57Z</dcterms:created>
  <dcterms:modified xsi:type="dcterms:W3CDTF">2026-10-06T15:42:57Z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AA56C1C4BA1310C00117C56A8F8C7AC4_42</vt:lpwstr>
  </property>
  <property fmtid="{D5CDD505-2E9C-101B-9397-08002B2CF9AE}" pid="3" name="KSOProductBuildVer">
    <vt:lpwstr>1033-12.1.28496.28496</vt:lpwstr>
  </property>
</Properties>
</file>