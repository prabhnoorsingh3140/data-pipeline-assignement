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5"/>
    <p:sldId id="266" r:id="rId16"/>
    <p:sldId id="267" r:id="rId17"/>
    <p:sldId id="268" r:id="rId18"/>
    <p:sldId id="269" r:id="rId19"/>
    <p:sldId id="270" r:id="rId20"/>
    <p:sldId id="271" r:id="rId2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2065"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143000"/>
            <a:ext cx="10515600" cy="594360"/>
          </a:xfrm>
          <a:prstGeom prst="rect">
            <a:avLst/>
          </a:prstGeom>
          <a:noFill/>
        </p:spPr>
        <p:txBody>
          <a:bodyPr wrap="square" anchor="t">
            <a:spAutoFit/>
          </a:bodyPr>
          <a:lstStyle/>
          <a:p>
            <a:pPr algn="l">
              <a:defRPr sz="4000" b="1">
                <a:solidFill>
                  <a:srgbClr val="233448"/>
                </a:solidFill>
                <a:latin typeface="Arial" panose="020B0604020202090204"/>
              </a:defRPr>
            </a:pPr>
            <a:r>
              <a:t>Data Pipeline Design</a:t>
            </a:r>
          </a:p>
        </p:txBody>
      </p:sp>
      <p:sp>
        <p:nvSpPr>
          <p:cNvPr id="4" name="TextBox 3"/>
          <p:cNvSpPr txBox="1"/>
          <p:nvPr/>
        </p:nvSpPr>
        <p:spPr>
          <a:xfrm>
            <a:off x="804672" y="1828800"/>
            <a:ext cx="9601200" cy="457200"/>
          </a:xfrm>
          <a:prstGeom prst="rect">
            <a:avLst/>
          </a:prstGeom>
          <a:noFill/>
        </p:spPr>
        <p:txBody>
          <a:bodyPr wrap="square" anchor="t">
            <a:spAutoFit/>
          </a:bodyPr>
          <a:lstStyle/>
          <a:p>
            <a:pPr algn="l">
              <a:defRPr sz="2400" b="0">
                <a:solidFill>
                  <a:srgbClr val="4B7DAA"/>
                </a:solidFill>
                <a:latin typeface="Arial" panose="020B0604020202090204"/>
              </a:defRPr>
            </a:pPr>
            <a:r>
              <a:t>Weather Data Analytics</a:t>
            </a:r>
          </a:p>
        </p:txBody>
      </p:sp>
      <p:sp>
        <p:nvSpPr>
          <p:cNvPr id="5" name="TextBox 4"/>
          <p:cNvSpPr txBox="1"/>
          <p:nvPr/>
        </p:nvSpPr>
        <p:spPr>
          <a:xfrm>
            <a:off x="822960" y="2743200"/>
            <a:ext cx="6400800" cy="502920"/>
          </a:xfrm>
          <a:prstGeom prst="rect">
            <a:avLst/>
          </a:prstGeom>
          <a:noFill/>
        </p:spPr>
        <p:txBody>
          <a:bodyPr wrap="square" anchor="t">
            <a:spAutoFit/>
          </a:bodyPr>
          <a:lstStyle/>
          <a:p>
            <a:pPr algn="l">
              <a:defRPr sz="1600" b="0">
                <a:solidFill>
                  <a:srgbClr val="30343A"/>
                </a:solidFill>
                <a:latin typeface="Arial" panose="020B0604020202090204"/>
              </a:defRPr>
            </a:pPr>
            <a:r>
              <a:t>A simple pipeline from a weather API to a Power BI dashboard.</a:t>
            </a:r>
          </a:p>
        </p:txBody>
      </p:sp>
      <p:sp>
        <p:nvSpPr>
          <p:cNvPr id="6" name="TextBox 5"/>
          <p:cNvSpPr txBox="1"/>
          <p:nvPr/>
        </p:nvSpPr>
        <p:spPr>
          <a:xfrm>
            <a:off x="968375" y="3846194"/>
            <a:ext cx="5029200" cy="321945"/>
          </a:xfrm>
          <a:prstGeom prst="rect">
            <a:avLst/>
          </a:prstGeom>
          <a:noFill/>
        </p:spPr>
        <p:txBody>
          <a:bodyPr wrap="square" anchor="t">
            <a:spAutoFit/>
          </a:bodyPr>
          <a:lstStyle/>
          <a:p>
            <a:pPr algn="l">
              <a:defRPr sz="1500" b="0">
                <a:solidFill>
                  <a:srgbClr val="30343A"/>
                </a:solidFill>
                <a:latin typeface="Arial" panose="020B0604020202090204"/>
              </a:defRPr>
            </a:pPr>
            <a:r>
              <a:t>Name: </a:t>
            </a:r>
            <a:r>
              <a:rPr lang="en-US"/>
              <a:t> PRABHNOOR SINGH</a:t>
            </a:r>
          </a:p>
        </p:txBody>
      </p:sp>
      <p:sp>
        <p:nvSpPr>
          <p:cNvPr id="9" name="Rectangle 8"/>
          <p:cNvSpPr/>
          <p:nvPr/>
        </p:nvSpPr>
        <p:spPr>
          <a:xfrm>
            <a:off x="7223760" y="3611880"/>
            <a:ext cx="3566160" cy="141732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Main idea</a:t>
            </a:r>
          </a:p>
          <a:p>
            <a:pPr algn="ctr">
              <a:defRPr sz="1400">
                <a:solidFill>
                  <a:srgbClr val="696C70"/>
                </a:solidFill>
                <a:latin typeface="Arial" panose="020B0604020202090204"/>
              </a:defRPr>
            </a:pPr>
            <a:r>
              <a:t>Source → Ingestion → Processing</a:t>
            </a:r>
            <a:br/>
            <a:r>
              <a:t>→ Storage → Consumer</a:t>
            </a:r>
          </a:p>
        </p:txBody>
      </p:sp>
      <p:sp>
        <p:nvSpPr>
          <p:cNvPr id="10" name="TextBox 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1</a:t>
            </a:r>
          </a:p>
        </p:txBody>
      </p:sp>
      <p:sp>
        <p:nvSpPr>
          <p:cNvPr id="11" name="TextBox 7"/>
          <p:cNvSpPr txBox="1"/>
          <p:nvPr/>
        </p:nvSpPr>
        <p:spPr>
          <a:xfrm>
            <a:off x="895985" y="4251071"/>
            <a:ext cx="5029200" cy="553085"/>
          </a:xfrm>
          <a:prstGeom prst="rect">
            <a:avLst/>
          </a:prstGeom>
          <a:noFill/>
        </p:spPr>
        <p:txBody>
          <a:bodyPr wrap="square" anchor="t">
            <a:spAutoFit/>
          </a:bodyPr>
          <a:lstStyle/>
          <a:p>
            <a:pPr algn="l">
              <a:defRPr sz="1500" b="0">
                <a:solidFill>
                  <a:srgbClr val="30343A"/>
                </a:solidFill>
                <a:latin typeface="Arial" panose="020B0604020202090204"/>
              </a:defRPr>
            </a:pPr>
            <a:r>
              <a:t>Course: </a:t>
            </a:r>
            <a:r>
              <a:rPr lang="en-US" altLang="en-US"/>
              <a:t>Data Engineering - Six-Months Internship, Project-based &amp; AI Augmented</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1. What am I trying to solve?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Selected source: a public Weather API</a:t>
            </a:r>
          </a:p>
        </p:txBody>
      </p:sp>
      <p:sp>
        <p:nvSpPr>
          <p:cNvPr id="5" name="Rectangle 4"/>
          <p:cNvSpPr/>
          <p:nvPr/>
        </p:nvSpPr>
        <p:spPr>
          <a:xfrm>
            <a:off x="731520" y="1417320"/>
            <a:ext cx="2926080" cy="347472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300" b="1">
                <a:solidFill>
                  <a:srgbClr val="30343A"/>
                </a:solidFill>
                <a:latin typeface="Arial" panose="020B0604020202090204"/>
              </a:defRPr>
            </a:pPr>
            <a:r>
              <a:t>Weather API</a:t>
            </a:r>
          </a:p>
          <a:p>
            <a:pPr algn="ctr">
              <a:defRPr sz="1200">
                <a:solidFill>
                  <a:srgbClr val="696C70"/>
                </a:solidFill>
                <a:latin typeface="Arial" panose="020B0604020202090204"/>
              </a:defRPr>
            </a:pPr>
            <a:r>
              <a:t>Raw weather observations</a:t>
            </a:r>
          </a:p>
        </p:txBody>
      </p:sp>
      <p:sp>
        <p:nvSpPr>
          <p:cNvPr id="6" name="TextBox 5"/>
          <p:cNvSpPr txBox="1"/>
          <p:nvPr/>
        </p:nvSpPr>
        <p:spPr>
          <a:xfrm>
            <a:off x="4069080" y="1417320"/>
            <a:ext cx="6858000" cy="365760"/>
          </a:xfrm>
          <a:prstGeom prst="rect">
            <a:avLst/>
          </a:prstGeom>
          <a:noFill/>
        </p:spPr>
        <p:txBody>
          <a:bodyPr wrap="square" anchor="t">
            <a:spAutoFit/>
          </a:bodyPr>
          <a:lstStyle/>
          <a:p>
            <a:pPr algn="l">
              <a:defRPr sz="1900" b="1">
                <a:solidFill>
                  <a:srgbClr val="233448"/>
                </a:solidFill>
                <a:latin typeface="Arial" panose="020B0604020202090204"/>
              </a:defRPr>
            </a:pPr>
            <a:r>
              <a:t>What kind of data do we get?</a:t>
            </a:r>
          </a:p>
        </p:txBody>
      </p:sp>
      <p:sp>
        <p:nvSpPr>
          <p:cNvPr id="7" name="TextBox 6"/>
          <p:cNvSpPr txBox="1"/>
          <p:nvPr/>
        </p:nvSpPr>
        <p:spPr>
          <a:xfrm>
            <a:off x="4069080" y="1938528"/>
            <a:ext cx="6766560" cy="1828800"/>
          </a:xfrm>
          <a:prstGeom prst="rect">
            <a:avLst/>
          </a:prstGeom>
          <a:noFill/>
        </p:spPr>
        <p:txBody>
          <a:bodyPr wrap="square">
            <a:spAutoFit/>
          </a:bodyPr>
          <a:lstStyle/>
          <a:p>
            <a:pPr>
              <a:spcAft>
                <a:spcPts val="700"/>
              </a:spcAft>
              <a:defRPr sz="1700">
                <a:solidFill>
                  <a:srgbClr val="30343A"/>
                </a:solidFill>
                <a:latin typeface="Arial" panose="020B0604020202090204"/>
              </a:defRPr>
            </a:pPr>
            <a:r>
              <a:t>• Temperature and feels-like temperature</a:t>
            </a:r>
          </a:p>
          <a:p>
            <a:pPr>
              <a:spcAft>
                <a:spcPts val="700"/>
              </a:spcAft>
              <a:defRPr sz="1700">
                <a:solidFill>
                  <a:srgbClr val="30343A"/>
                </a:solidFill>
                <a:latin typeface="Arial" panose="020B0604020202090204"/>
              </a:defRPr>
            </a:pPr>
            <a:r>
              <a:t>• Humidity and wind speed</a:t>
            </a:r>
          </a:p>
          <a:p>
            <a:pPr>
              <a:spcAft>
                <a:spcPts val="700"/>
              </a:spcAft>
              <a:defRPr sz="1700">
                <a:solidFill>
                  <a:srgbClr val="30343A"/>
                </a:solidFill>
                <a:latin typeface="Arial" panose="020B0604020202090204"/>
              </a:defRPr>
            </a:pPr>
            <a:r>
              <a:t>• Weather condition and location</a:t>
            </a:r>
          </a:p>
          <a:p>
            <a:pPr>
              <a:spcAft>
                <a:spcPts val="700"/>
              </a:spcAft>
              <a:defRPr sz="1700">
                <a:solidFill>
                  <a:srgbClr val="30343A"/>
                </a:solidFill>
                <a:latin typeface="Arial" panose="020B0604020202090204"/>
              </a:defRPr>
            </a:pPr>
            <a:r>
              <a:t>• Timestamp for each observation</a:t>
            </a:r>
          </a:p>
        </p:txBody>
      </p:sp>
      <p:sp>
        <p:nvSpPr>
          <p:cNvPr id="8" name="TextBox 7"/>
          <p:cNvSpPr txBox="1"/>
          <p:nvPr/>
        </p:nvSpPr>
        <p:spPr>
          <a:xfrm>
            <a:off x="4069080" y="4224528"/>
            <a:ext cx="6766560" cy="365760"/>
          </a:xfrm>
          <a:prstGeom prst="rect">
            <a:avLst/>
          </a:prstGeom>
          <a:noFill/>
        </p:spPr>
        <p:txBody>
          <a:bodyPr wrap="square" anchor="t">
            <a:spAutoFit/>
          </a:bodyPr>
          <a:lstStyle/>
          <a:p>
            <a:pPr algn="l">
              <a:defRPr sz="1800" b="1">
                <a:solidFill>
                  <a:srgbClr val="233448"/>
                </a:solidFill>
                <a:latin typeface="Arial" panose="020B0604020202090204"/>
              </a:defRPr>
            </a:pPr>
            <a:r>
              <a:t>Goal</a:t>
            </a:r>
          </a:p>
        </p:txBody>
      </p:sp>
      <p:sp>
        <p:nvSpPr>
          <p:cNvPr id="9" name="TextBox 8"/>
          <p:cNvSpPr txBox="1"/>
          <p:nvPr/>
        </p:nvSpPr>
        <p:spPr>
          <a:xfrm>
            <a:off x="4069080" y="4645152"/>
            <a:ext cx="6675120" cy="914400"/>
          </a:xfrm>
          <a:prstGeom prst="rect">
            <a:avLst/>
          </a:prstGeom>
          <a:noFill/>
        </p:spPr>
        <p:txBody>
          <a:bodyPr wrap="square" anchor="t">
            <a:spAutoFit/>
          </a:bodyPr>
          <a:lstStyle/>
          <a:p>
            <a:pPr algn="l">
              <a:defRPr sz="1600" b="0">
                <a:solidFill>
                  <a:srgbClr val="30343A"/>
                </a:solidFill>
                <a:latin typeface="Arial" panose="020B0604020202090204"/>
              </a:defRPr>
            </a:pPr>
            <a:r>
              <a:t>Collect the data regularly, make it clean and consistent, keep it for later analysis, and show useful trends in a dashboard.</a:t>
            </a:r>
          </a:p>
        </p:txBody>
      </p:sp>
      <p:sp>
        <p:nvSpPr>
          <p:cNvPr id="10" name="TextBox 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2. Diagram 1 — Logical Architecture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This diagram describes the jobs, not the products</a:t>
            </a:r>
          </a:p>
        </p:txBody>
      </p:sp>
      <p:sp>
        <p:nvSpPr>
          <p:cNvPr id="5" name="Rectangle 4"/>
          <p:cNvSpPr/>
          <p:nvPr/>
        </p:nvSpPr>
        <p:spPr>
          <a:xfrm>
            <a:off x="3337560" y="1298448"/>
            <a:ext cx="5394960" cy="68580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SOURCE</a:t>
            </a:r>
          </a:p>
          <a:p>
            <a:pPr algn="ctr">
              <a:defRPr sz="1050">
                <a:solidFill>
                  <a:srgbClr val="696C70"/>
                </a:solidFill>
                <a:latin typeface="Arial" panose="020B0604020202090204"/>
              </a:defRPr>
            </a:pPr>
            <a:r>
              <a:t>Weather data</a:t>
            </a:r>
          </a:p>
        </p:txBody>
      </p:sp>
      <p:sp>
        <p:nvSpPr>
          <p:cNvPr id="6" name="TextBox 5"/>
          <p:cNvSpPr txBox="1"/>
          <p:nvPr/>
        </p:nvSpPr>
        <p:spPr>
          <a:xfrm>
            <a:off x="5833872" y="19933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7" name="Rectangle 6"/>
          <p:cNvSpPr/>
          <p:nvPr/>
        </p:nvSpPr>
        <p:spPr>
          <a:xfrm>
            <a:off x="3337560" y="2212848"/>
            <a:ext cx="5394960" cy="685800"/>
          </a:xfrm>
          <a:prstGeom prst="rect">
            <a:avLst/>
          </a:prstGeom>
          <a:solidFill>
            <a:srgbClr val="ECF4EE"/>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INGESTION</a:t>
            </a:r>
          </a:p>
          <a:p>
            <a:pPr algn="ctr">
              <a:defRPr sz="1050">
                <a:solidFill>
                  <a:srgbClr val="696C70"/>
                </a:solidFill>
                <a:latin typeface="Arial" panose="020B0604020202090204"/>
              </a:defRPr>
            </a:pPr>
            <a:r>
              <a:t>Collect the data</a:t>
            </a:r>
          </a:p>
        </p:txBody>
      </p:sp>
      <p:sp>
        <p:nvSpPr>
          <p:cNvPr id="8" name="TextBox 7"/>
          <p:cNvSpPr txBox="1"/>
          <p:nvPr/>
        </p:nvSpPr>
        <p:spPr>
          <a:xfrm>
            <a:off x="5833872" y="29077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9" name="Rectangle 8"/>
          <p:cNvSpPr/>
          <p:nvPr/>
        </p:nvSpPr>
        <p:spPr>
          <a:xfrm>
            <a:off x="3337560" y="3127248"/>
            <a:ext cx="5394960" cy="685800"/>
          </a:xfrm>
          <a:prstGeom prst="rect">
            <a:avLst/>
          </a:prstGeom>
          <a:solidFill>
            <a:srgbClr val="F9F0E5"/>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PROCESSING</a:t>
            </a:r>
          </a:p>
          <a:p>
            <a:pPr algn="ctr">
              <a:defRPr sz="1050">
                <a:solidFill>
                  <a:srgbClr val="696C70"/>
                </a:solidFill>
                <a:latin typeface="Arial" panose="020B0604020202090204"/>
              </a:defRPr>
            </a:pPr>
            <a:r>
              <a:t>Clean • validate • transform</a:t>
            </a:r>
          </a:p>
        </p:txBody>
      </p:sp>
      <p:sp>
        <p:nvSpPr>
          <p:cNvPr id="10" name="TextBox 9"/>
          <p:cNvSpPr txBox="1"/>
          <p:nvPr/>
        </p:nvSpPr>
        <p:spPr>
          <a:xfrm>
            <a:off x="5833872" y="38221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11" name="Rectangle 10"/>
          <p:cNvSpPr/>
          <p:nvPr/>
        </p:nvSpPr>
        <p:spPr>
          <a:xfrm>
            <a:off x="3337560" y="4041648"/>
            <a:ext cx="5394960" cy="685800"/>
          </a:xfrm>
          <a:prstGeom prst="rect">
            <a:avLst/>
          </a:prstGeom>
          <a:solidFill>
            <a:srgbClr val="F1EEF7"/>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STORAGE</a:t>
            </a:r>
          </a:p>
          <a:p>
            <a:pPr algn="ctr">
              <a:defRPr sz="1050">
                <a:solidFill>
                  <a:srgbClr val="696C70"/>
                </a:solidFill>
                <a:latin typeface="Arial" panose="020B0604020202090204"/>
              </a:defRPr>
            </a:pPr>
            <a:r>
              <a:t>Keep processed data</a:t>
            </a:r>
          </a:p>
        </p:txBody>
      </p:sp>
      <p:sp>
        <p:nvSpPr>
          <p:cNvPr id="12" name="TextBox 11"/>
          <p:cNvSpPr txBox="1"/>
          <p:nvPr/>
        </p:nvSpPr>
        <p:spPr>
          <a:xfrm>
            <a:off x="5833872" y="4736592"/>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13" name="Rectangle 12"/>
          <p:cNvSpPr/>
          <p:nvPr/>
        </p:nvSpPr>
        <p:spPr>
          <a:xfrm>
            <a:off x="3337560" y="4956048"/>
            <a:ext cx="5394960" cy="685800"/>
          </a:xfrm>
          <a:prstGeom prst="rect">
            <a:avLst/>
          </a:prstGeom>
          <a:solidFill>
            <a:srgbClr val="F8ECEB"/>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CONSUMER</a:t>
            </a:r>
          </a:p>
          <a:p>
            <a:pPr algn="ctr">
              <a:defRPr sz="1050">
                <a:solidFill>
                  <a:srgbClr val="696C70"/>
                </a:solidFill>
                <a:latin typeface="Arial" panose="020B0604020202090204"/>
              </a:defRPr>
            </a:pPr>
            <a:r>
              <a:t>Dashboard / analyst</a:t>
            </a:r>
          </a:p>
        </p:txBody>
      </p:sp>
      <p:sp>
        <p:nvSpPr>
          <p:cNvPr id="14" name="TextBox 13"/>
          <p:cNvSpPr txBox="1"/>
          <p:nvPr/>
        </p:nvSpPr>
        <p:spPr>
          <a:xfrm>
            <a:off x="777240" y="1463040"/>
            <a:ext cx="2103120" cy="1097280"/>
          </a:xfrm>
          <a:prstGeom prst="rect">
            <a:avLst/>
          </a:prstGeom>
          <a:noFill/>
        </p:spPr>
        <p:txBody>
          <a:bodyPr wrap="square" anchor="t">
            <a:spAutoFit/>
          </a:bodyPr>
          <a:lstStyle/>
          <a:p>
            <a:pPr algn="l">
              <a:defRPr sz="1250" b="0">
                <a:solidFill>
                  <a:srgbClr val="696C70"/>
                </a:solidFill>
                <a:latin typeface="Arial" panose="020B0604020202090204"/>
              </a:defRPr>
            </a:pPr>
            <a:r>
              <a:t>Each box answers one question:</a:t>
            </a:r>
            <a:br/>
            <a:br/>
            <a:r>
              <a:t>Where does the data come from?</a:t>
            </a:r>
          </a:p>
        </p:txBody>
      </p:sp>
      <p:sp>
        <p:nvSpPr>
          <p:cNvPr id="15" name="TextBox 14"/>
          <p:cNvSpPr txBox="1"/>
          <p:nvPr/>
        </p:nvSpPr>
        <p:spPr>
          <a:xfrm>
            <a:off x="9006840" y="2148840"/>
            <a:ext cx="2377440" cy="1188720"/>
          </a:xfrm>
          <a:prstGeom prst="rect">
            <a:avLst/>
          </a:prstGeom>
          <a:noFill/>
        </p:spPr>
        <p:txBody>
          <a:bodyPr wrap="square" anchor="t">
            <a:spAutoFit/>
          </a:bodyPr>
          <a:lstStyle/>
          <a:p>
            <a:pPr algn="l">
              <a:defRPr sz="1250" b="0">
                <a:solidFill>
                  <a:srgbClr val="696C70"/>
                </a:solidFill>
                <a:latin typeface="Arial" panose="020B0604020202090204"/>
              </a:defRPr>
            </a:pPr>
            <a:r>
              <a:t>How does it enter?</a:t>
            </a:r>
            <a:br/>
            <a:br/>
            <a:r>
              <a:t>What happens to it?</a:t>
            </a:r>
          </a:p>
        </p:txBody>
      </p:sp>
      <p:sp>
        <p:nvSpPr>
          <p:cNvPr id="16" name="TextBox 15"/>
          <p:cNvSpPr txBox="1"/>
          <p:nvPr/>
        </p:nvSpPr>
        <p:spPr>
          <a:xfrm>
            <a:off x="777240" y="4709160"/>
            <a:ext cx="2286000" cy="914400"/>
          </a:xfrm>
          <a:prstGeom prst="rect">
            <a:avLst/>
          </a:prstGeom>
          <a:noFill/>
        </p:spPr>
        <p:txBody>
          <a:bodyPr wrap="square" anchor="t">
            <a:spAutoFit/>
          </a:bodyPr>
          <a:lstStyle/>
          <a:p>
            <a:pPr algn="l">
              <a:defRPr sz="1250" b="0">
                <a:solidFill>
                  <a:srgbClr val="696C70"/>
                </a:solidFill>
                <a:latin typeface="Arial" panose="020B0604020202090204"/>
              </a:defRPr>
            </a:pPr>
            <a:r>
              <a:t>Where is it kept?</a:t>
            </a:r>
            <a:br/>
            <a:br/>
            <a:r>
              <a:t>Who uses it?</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3. Diagram 2 — Technology Mapping</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One practical implementation of the logical design</a:t>
            </a:r>
          </a:p>
        </p:txBody>
      </p:sp>
      <p:sp>
        <p:nvSpPr>
          <p:cNvPr id="5" name="Rectangle 4"/>
          <p:cNvSpPr/>
          <p:nvPr/>
        </p:nvSpPr>
        <p:spPr>
          <a:xfrm>
            <a:off x="502920" y="1828800"/>
            <a:ext cx="2057400" cy="132588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Weather API</a:t>
            </a:r>
          </a:p>
          <a:p>
            <a:pPr algn="ctr">
              <a:defRPr sz="1050">
                <a:solidFill>
                  <a:srgbClr val="696C70"/>
                </a:solidFill>
                <a:latin typeface="Arial" panose="020B0604020202090204"/>
              </a:defRPr>
            </a:pPr>
            <a:r>
              <a:t>Source</a:t>
            </a:r>
          </a:p>
        </p:txBody>
      </p:sp>
      <p:sp>
        <p:nvSpPr>
          <p:cNvPr id="6" name="TextBox 5"/>
          <p:cNvSpPr txBox="1"/>
          <p:nvPr/>
        </p:nvSpPr>
        <p:spPr>
          <a:xfrm>
            <a:off x="2578608"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2834639" y="1828800"/>
            <a:ext cx="2057400" cy="1325880"/>
          </a:xfrm>
          <a:prstGeom prst="rect">
            <a:avLst/>
          </a:prstGeom>
          <a:solidFill>
            <a:srgbClr val="ECF4EE"/>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Python</a:t>
            </a:r>
          </a:p>
          <a:p>
            <a:pPr algn="ctr">
              <a:defRPr sz="1050">
                <a:solidFill>
                  <a:srgbClr val="696C70"/>
                </a:solidFill>
                <a:latin typeface="Arial" panose="020B0604020202090204"/>
              </a:defRPr>
            </a:pPr>
            <a:r>
              <a:t>API requests / ingestion</a:t>
            </a:r>
          </a:p>
        </p:txBody>
      </p:sp>
      <p:sp>
        <p:nvSpPr>
          <p:cNvPr id="8" name="TextBox 7"/>
          <p:cNvSpPr txBox="1"/>
          <p:nvPr/>
        </p:nvSpPr>
        <p:spPr>
          <a:xfrm>
            <a:off x="4910327"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5166359" y="1828800"/>
            <a:ext cx="2057400" cy="1325880"/>
          </a:xfrm>
          <a:prstGeom prst="rect">
            <a:avLst/>
          </a:prstGeom>
          <a:solidFill>
            <a:srgbClr val="F9F0E5"/>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Pandas</a:t>
            </a:r>
          </a:p>
          <a:p>
            <a:pPr algn="ctr">
              <a:defRPr sz="1050">
                <a:solidFill>
                  <a:srgbClr val="696C70"/>
                </a:solidFill>
                <a:latin typeface="Arial" panose="020B0604020202090204"/>
              </a:defRPr>
            </a:pPr>
            <a:r>
              <a:t>Cleaning + transformation</a:t>
            </a:r>
          </a:p>
        </p:txBody>
      </p:sp>
      <p:sp>
        <p:nvSpPr>
          <p:cNvPr id="10" name="TextBox 9"/>
          <p:cNvSpPr txBox="1"/>
          <p:nvPr/>
        </p:nvSpPr>
        <p:spPr>
          <a:xfrm>
            <a:off x="7242048"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1" name="Rectangle 10"/>
          <p:cNvSpPr/>
          <p:nvPr/>
        </p:nvSpPr>
        <p:spPr>
          <a:xfrm>
            <a:off x="7498079" y="1828800"/>
            <a:ext cx="2057400" cy="1325880"/>
          </a:xfrm>
          <a:prstGeom prst="rect">
            <a:avLst/>
          </a:prstGeom>
          <a:solidFill>
            <a:srgbClr val="F1EEF7"/>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PostgreSQL</a:t>
            </a:r>
          </a:p>
          <a:p>
            <a:pPr algn="ctr">
              <a:defRPr sz="1050">
                <a:solidFill>
                  <a:srgbClr val="696C70"/>
                </a:solidFill>
                <a:latin typeface="Arial" panose="020B0604020202090204"/>
              </a:defRPr>
            </a:pPr>
            <a:r>
              <a:t>Processed data storage</a:t>
            </a:r>
          </a:p>
        </p:txBody>
      </p:sp>
      <p:sp>
        <p:nvSpPr>
          <p:cNvPr id="12" name="TextBox 11"/>
          <p:cNvSpPr txBox="1"/>
          <p:nvPr/>
        </p:nvSpPr>
        <p:spPr>
          <a:xfrm>
            <a:off x="9573767"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3" name="Rectangle 12"/>
          <p:cNvSpPr/>
          <p:nvPr/>
        </p:nvSpPr>
        <p:spPr>
          <a:xfrm>
            <a:off x="9829800" y="1828800"/>
            <a:ext cx="2057400" cy="1325880"/>
          </a:xfrm>
          <a:prstGeom prst="rect">
            <a:avLst/>
          </a:prstGeom>
          <a:solidFill>
            <a:srgbClr val="F8ECEB"/>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Power BI</a:t>
            </a:r>
          </a:p>
          <a:p>
            <a:pPr algn="ctr">
              <a:defRPr sz="1050">
                <a:solidFill>
                  <a:srgbClr val="696C70"/>
                </a:solidFill>
                <a:latin typeface="Arial" panose="020B0604020202090204"/>
              </a:defRPr>
            </a:pPr>
            <a:r>
              <a:t>Dashboard / consumer</a:t>
            </a:r>
          </a:p>
        </p:txBody>
      </p:sp>
      <p:sp>
        <p:nvSpPr>
          <p:cNvPr id="14" name="TextBox 13"/>
          <p:cNvSpPr txBox="1"/>
          <p:nvPr/>
        </p:nvSpPr>
        <p:spPr>
          <a:xfrm>
            <a:off x="731520" y="3749039"/>
            <a:ext cx="10698480" cy="365760"/>
          </a:xfrm>
          <a:prstGeom prst="rect">
            <a:avLst/>
          </a:prstGeom>
          <a:noFill/>
        </p:spPr>
        <p:txBody>
          <a:bodyPr wrap="square" anchor="t">
            <a:spAutoFit/>
          </a:bodyPr>
          <a:lstStyle/>
          <a:p>
            <a:pPr algn="l">
              <a:defRPr sz="1900" b="1">
                <a:solidFill>
                  <a:srgbClr val="233448"/>
                </a:solidFill>
                <a:latin typeface="Arial" panose="020B0604020202090204"/>
              </a:defRPr>
            </a:pPr>
            <a:r>
              <a:t>Why this mapping?</a:t>
            </a:r>
          </a:p>
        </p:txBody>
      </p:sp>
      <p:sp>
        <p:nvSpPr>
          <p:cNvPr id="15" name="TextBox 14"/>
          <p:cNvSpPr txBox="1"/>
          <p:nvPr/>
        </p:nvSpPr>
        <p:spPr>
          <a:xfrm>
            <a:off x="731520" y="4251960"/>
            <a:ext cx="10698480" cy="914400"/>
          </a:xfrm>
          <a:prstGeom prst="rect">
            <a:avLst/>
          </a:prstGeom>
          <a:noFill/>
        </p:spPr>
        <p:txBody>
          <a:bodyPr wrap="square" anchor="t">
            <a:spAutoFit/>
          </a:bodyPr>
          <a:lstStyle/>
          <a:p>
            <a:pPr algn="l">
              <a:defRPr sz="1600" b="0">
                <a:solidFill>
                  <a:srgbClr val="30343A"/>
                </a:solidFill>
                <a:latin typeface="Arial" panose="020B0604020202090204"/>
              </a:defRPr>
            </a:pPr>
            <a:r>
              <a:t>The tools are deliberately simple. Python handles collection, Pandas handles preparation, PostgreSQL keeps the cleaned records, and Power BI is used for reporting.</a:t>
            </a:r>
          </a:p>
        </p:txBody>
      </p:sp>
      <p:sp>
        <p:nvSpPr>
          <p:cNvPr id="16" name="TextBox 15"/>
          <p:cNvSpPr txBox="1"/>
          <p:nvPr/>
        </p:nvSpPr>
        <p:spPr>
          <a:xfrm>
            <a:off x="731520" y="5486400"/>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The exact technology could change; the logical roles stay the same.</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4. What happens to one weather record?</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Following one record makes the pipeline easier to understand</a:t>
            </a:r>
          </a:p>
        </p:txBody>
      </p:sp>
      <p:sp>
        <p:nvSpPr>
          <p:cNvPr id="5" name="Rectangle 4"/>
          <p:cNvSpPr/>
          <p:nvPr/>
        </p:nvSpPr>
        <p:spPr>
          <a:xfrm>
            <a:off x="640080" y="1508760"/>
            <a:ext cx="3246120" cy="2148840"/>
          </a:xfrm>
          <a:prstGeom prst="rect">
            <a:avLst/>
          </a:prstGeom>
          <a:solidFill>
            <a:srgbClr val="FFFFFF"/>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Raw API response</a:t>
            </a:r>
          </a:p>
          <a:p>
            <a:pPr algn="ctr">
              <a:defRPr sz="1200">
                <a:solidFill>
                  <a:srgbClr val="696C70"/>
                </a:solidFill>
                <a:latin typeface="Arial" panose="020B0604020202090204"/>
              </a:defRPr>
            </a:pPr>
            <a:r>
              <a:t>city = Jalandhar</a:t>
            </a:r>
            <a:br/>
            <a:r>
              <a:t>temp = "29.5"</a:t>
            </a:r>
            <a:br/>
            <a:r>
              <a:t>humidity = 72</a:t>
            </a:r>
            <a:br/>
            <a:r>
              <a:t>time = "04/10/26 10:00"</a:t>
            </a:r>
          </a:p>
        </p:txBody>
      </p:sp>
      <p:sp>
        <p:nvSpPr>
          <p:cNvPr id="6" name="TextBox 5"/>
          <p:cNvSpPr txBox="1"/>
          <p:nvPr/>
        </p:nvSpPr>
        <p:spPr>
          <a:xfrm>
            <a:off x="4023360" y="2331720"/>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4407408" y="1508760"/>
            <a:ext cx="3246120" cy="2148840"/>
          </a:xfrm>
          <a:prstGeom prst="rect">
            <a:avLst/>
          </a:prstGeom>
          <a:solidFill>
            <a:srgbClr val="FFFFFF"/>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Processing</a:t>
            </a:r>
          </a:p>
          <a:p>
            <a:pPr algn="ctr">
              <a:defRPr sz="1200">
                <a:solidFill>
                  <a:srgbClr val="696C70"/>
                </a:solidFill>
                <a:latin typeface="Arial" panose="020B0604020202090204"/>
              </a:defRPr>
            </a:pPr>
            <a:r>
              <a:t>convert types</a:t>
            </a:r>
            <a:br/>
            <a:r>
              <a:t>check ranges</a:t>
            </a:r>
            <a:br/>
            <a:r>
              <a:t>standardize time</a:t>
            </a:r>
            <a:br/>
            <a:r>
              <a:t>remove duplicates</a:t>
            </a:r>
          </a:p>
        </p:txBody>
      </p:sp>
      <p:sp>
        <p:nvSpPr>
          <p:cNvPr id="8" name="TextBox 7"/>
          <p:cNvSpPr txBox="1"/>
          <p:nvPr/>
        </p:nvSpPr>
        <p:spPr>
          <a:xfrm>
            <a:off x="7790688" y="2331720"/>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8156448" y="1508760"/>
            <a:ext cx="3383280" cy="2148840"/>
          </a:xfrm>
          <a:prstGeom prst="rect">
            <a:avLst/>
          </a:prstGeom>
          <a:solidFill>
            <a:srgbClr val="FFFFFF"/>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Stored record</a:t>
            </a:r>
          </a:p>
          <a:p>
            <a:pPr algn="ctr">
              <a:defRPr sz="1200">
                <a:solidFill>
                  <a:srgbClr val="696C70"/>
                </a:solidFill>
                <a:latin typeface="Arial" panose="020B0604020202090204"/>
              </a:defRPr>
            </a:pPr>
            <a:r>
              <a:t>city = Jalandhar</a:t>
            </a:r>
            <a:br/>
            <a:r>
              <a:t>temp = 29.5</a:t>
            </a:r>
            <a:br/>
            <a:r>
              <a:t>humidity = 72</a:t>
            </a:r>
            <a:br/>
            <a:r>
              <a:t>timestamp = standard format</a:t>
            </a:r>
          </a:p>
        </p:txBody>
      </p:sp>
      <p:sp>
        <p:nvSpPr>
          <p:cNvPr id="10" name="TextBox 9"/>
          <p:cNvSpPr txBox="1"/>
          <p:nvPr/>
        </p:nvSpPr>
        <p:spPr>
          <a:xfrm>
            <a:off x="822960" y="4069080"/>
            <a:ext cx="10332720" cy="365760"/>
          </a:xfrm>
          <a:prstGeom prst="rect">
            <a:avLst/>
          </a:prstGeom>
          <a:noFill/>
        </p:spPr>
        <p:txBody>
          <a:bodyPr wrap="square" anchor="t">
            <a:spAutoFit/>
          </a:bodyPr>
          <a:lstStyle/>
          <a:p>
            <a:pPr algn="l">
              <a:defRPr sz="1800" b="1">
                <a:solidFill>
                  <a:srgbClr val="233448"/>
                </a:solidFill>
                <a:latin typeface="Arial" panose="020B0604020202090204"/>
              </a:defRPr>
            </a:pPr>
            <a:r>
              <a:t>Why process it before storage?</a:t>
            </a:r>
          </a:p>
        </p:txBody>
      </p:sp>
      <p:sp>
        <p:nvSpPr>
          <p:cNvPr id="11" name="TextBox 10"/>
          <p:cNvSpPr txBox="1"/>
          <p:nvPr/>
        </p:nvSpPr>
        <p:spPr>
          <a:xfrm>
            <a:off x="822960" y="4526280"/>
            <a:ext cx="10332720" cy="1097280"/>
          </a:xfrm>
          <a:prstGeom prst="rect">
            <a:avLst/>
          </a:prstGeom>
          <a:noFill/>
        </p:spPr>
        <p:txBody>
          <a:bodyPr wrap="square" anchor="t">
            <a:spAutoFit/>
          </a:bodyPr>
          <a:lstStyle/>
          <a:p>
            <a:pPr algn="l">
              <a:defRPr sz="1600" b="0">
                <a:solidFill>
                  <a:srgbClr val="30343A"/>
                </a:solidFill>
                <a:latin typeface="Arial" panose="020B0604020202090204"/>
              </a:defRPr>
            </a:pPr>
            <a:r>
              <a:t>The API gives us raw values. Processing turns them into consistent records that are easier to query, compare and visualize later.</a:t>
            </a:r>
          </a:p>
        </p:txBody>
      </p:sp>
      <p:sp>
        <p:nvSpPr>
          <p:cNvPr id="12" name="TextBox 11"/>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5. Why is each component there?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Short explanations that are easy to defend</a:t>
            </a:r>
          </a:p>
        </p:txBody>
      </p:sp>
      <p:sp>
        <p:nvSpPr>
          <p:cNvPr id="5" name="Rectangle 4"/>
          <p:cNvSpPr/>
          <p:nvPr/>
        </p:nvSpPr>
        <p:spPr>
          <a:xfrm>
            <a:off x="731520" y="1353312"/>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536192"/>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Weather API</a:t>
            </a:r>
          </a:p>
        </p:txBody>
      </p:sp>
      <p:sp>
        <p:nvSpPr>
          <p:cNvPr id="7" name="TextBox 6"/>
          <p:cNvSpPr txBox="1"/>
          <p:nvPr/>
        </p:nvSpPr>
        <p:spPr>
          <a:xfrm>
            <a:off x="3108960" y="1499616"/>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is the original source of the weather observations.</a:t>
            </a:r>
          </a:p>
        </p:txBody>
      </p:sp>
      <p:sp>
        <p:nvSpPr>
          <p:cNvPr id="8" name="Rectangle 7"/>
          <p:cNvSpPr/>
          <p:nvPr/>
        </p:nvSpPr>
        <p:spPr>
          <a:xfrm>
            <a:off x="731520" y="2249424"/>
            <a:ext cx="10744200" cy="749808"/>
          </a:xfrm>
          <a:prstGeom prst="rect">
            <a:avLst/>
          </a:prstGeom>
          <a:solidFill>
            <a:srgbClr val="F5F4F0"/>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432304"/>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Python</a:t>
            </a:r>
          </a:p>
        </p:txBody>
      </p:sp>
      <p:sp>
        <p:nvSpPr>
          <p:cNvPr id="10" name="TextBox 9"/>
          <p:cNvSpPr txBox="1"/>
          <p:nvPr/>
        </p:nvSpPr>
        <p:spPr>
          <a:xfrm>
            <a:off x="3108960" y="2395728"/>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sends requests to the API and collects the returned data.</a:t>
            </a:r>
          </a:p>
        </p:txBody>
      </p:sp>
      <p:sp>
        <p:nvSpPr>
          <p:cNvPr id="11" name="Rectangle 10"/>
          <p:cNvSpPr/>
          <p:nvPr/>
        </p:nvSpPr>
        <p:spPr>
          <a:xfrm>
            <a:off x="731520" y="3145536"/>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328416"/>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Pandas</a:t>
            </a:r>
          </a:p>
        </p:txBody>
      </p:sp>
      <p:sp>
        <p:nvSpPr>
          <p:cNvPr id="13" name="TextBox 12"/>
          <p:cNvSpPr txBox="1"/>
          <p:nvPr/>
        </p:nvSpPr>
        <p:spPr>
          <a:xfrm>
            <a:off x="3108960" y="3291840"/>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cleans and reshapes the raw records before storage.</a:t>
            </a:r>
          </a:p>
        </p:txBody>
      </p:sp>
      <p:sp>
        <p:nvSpPr>
          <p:cNvPr id="14" name="Rectangle 13"/>
          <p:cNvSpPr/>
          <p:nvPr/>
        </p:nvSpPr>
        <p:spPr>
          <a:xfrm>
            <a:off x="731520" y="4041648"/>
            <a:ext cx="10744200" cy="749808"/>
          </a:xfrm>
          <a:prstGeom prst="rect">
            <a:avLst/>
          </a:prstGeom>
          <a:solidFill>
            <a:srgbClr val="F5F4F0"/>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224528"/>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PostgreSQL</a:t>
            </a:r>
          </a:p>
        </p:txBody>
      </p:sp>
      <p:sp>
        <p:nvSpPr>
          <p:cNvPr id="16" name="TextBox 15"/>
          <p:cNvSpPr txBox="1"/>
          <p:nvPr/>
        </p:nvSpPr>
        <p:spPr>
          <a:xfrm>
            <a:off x="3108960" y="4187952"/>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keeps the processed records so they can be queried later.</a:t>
            </a:r>
          </a:p>
        </p:txBody>
      </p:sp>
      <p:sp>
        <p:nvSpPr>
          <p:cNvPr id="17" name="Rectangle 16"/>
          <p:cNvSpPr/>
          <p:nvPr/>
        </p:nvSpPr>
        <p:spPr>
          <a:xfrm>
            <a:off x="731520" y="4937760"/>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120640"/>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Power BI</a:t>
            </a:r>
          </a:p>
        </p:txBody>
      </p:sp>
      <p:sp>
        <p:nvSpPr>
          <p:cNvPr id="19" name="TextBox 18"/>
          <p:cNvSpPr txBox="1"/>
          <p:nvPr/>
        </p:nvSpPr>
        <p:spPr>
          <a:xfrm>
            <a:off x="3108960" y="5084064"/>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turns the stored data into charts and a dashboard.</a:t>
            </a:r>
          </a:p>
        </p:txBody>
      </p:sp>
      <p:sp>
        <p:nvSpPr>
          <p:cNvPr id="20" name="TextBox 1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6. Question Log</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Questions that came up while making the design</a:t>
            </a:r>
          </a:p>
        </p:txBody>
      </p:sp>
      <p:sp>
        <p:nvSpPr>
          <p:cNvPr id="5" name="Rectangle 4"/>
          <p:cNvSpPr/>
          <p:nvPr/>
        </p:nvSpPr>
        <p:spPr>
          <a:xfrm>
            <a:off x="822960" y="1371600"/>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1</a:t>
            </a:r>
          </a:p>
        </p:txBody>
      </p:sp>
      <p:sp>
        <p:nvSpPr>
          <p:cNvPr id="6" name="TextBox 5"/>
          <p:cNvSpPr txBox="1"/>
          <p:nvPr/>
        </p:nvSpPr>
        <p:spPr>
          <a:xfrm>
            <a:off x="1444752" y="1353312"/>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can't the dashboard just read the API directly?</a:t>
            </a:r>
          </a:p>
        </p:txBody>
      </p:sp>
      <p:sp>
        <p:nvSpPr>
          <p:cNvPr id="7" name="Rectangle 6"/>
          <p:cNvSpPr/>
          <p:nvPr/>
        </p:nvSpPr>
        <p:spPr>
          <a:xfrm>
            <a:off x="822960" y="2231136"/>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2</a:t>
            </a:r>
          </a:p>
        </p:txBody>
      </p:sp>
      <p:sp>
        <p:nvSpPr>
          <p:cNvPr id="8" name="TextBox 7"/>
          <p:cNvSpPr txBox="1"/>
          <p:nvPr/>
        </p:nvSpPr>
        <p:spPr>
          <a:xfrm>
            <a:off x="1444752" y="2212848"/>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What is the point of processing if the API already returns JSON?</a:t>
            </a:r>
          </a:p>
        </p:txBody>
      </p:sp>
      <p:sp>
        <p:nvSpPr>
          <p:cNvPr id="9" name="Rectangle 8"/>
          <p:cNvSpPr/>
          <p:nvPr/>
        </p:nvSpPr>
        <p:spPr>
          <a:xfrm>
            <a:off x="822960" y="3090672"/>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3</a:t>
            </a:r>
          </a:p>
        </p:txBody>
      </p:sp>
      <p:sp>
        <p:nvSpPr>
          <p:cNvPr id="10" name="TextBox 9"/>
          <p:cNvSpPr txBox="1"/>
          <p:nvPr/>
        </p:nvSpPr>
        <p:spPr>
          <a:xfrm>
            <a:off x="1444752" y="3072384"/>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keep the data after the dashboard has used it once?</a:t>
            </a:r>
          </a:p>
        </p:txBody>
      </p:sp>
      <p:sp>
        <p:nvSpPr>
          <p:cNvPr id="11" name="Rectangle 10"/>
          <p:cNvSpPr/>
          <p:nvPr/>
        </p:nvSpPr>
        <p:spPr>
          <a:xfrm>
            <a:off x="822960" y="3950208"/>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4</a:t>
            </a:r>
          </a:p>
        </p:txBody>
      </p:sp>
      <p:sp>
        <p:nvSpPr>
          <p:cNvPr id="12" name="TextBox 11"/>
          <p:cNvSpPr txBox="1"/>
          <p:nvPr/>
        </p:nvSpPr>
        <p:spPr>
          <a:xfrm>
            <a:off x="1444752" y="3931920"/>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is a relational database enough for this use case?</a:t>
            </a:r>
          </a:p>
        </p:txBody>
      </p:sp>
      <p:sp>
        <p:nvSpPr>
          <p:cNvPr id="13" name="Rectangle 12"/>
          <p:cNvSpPr/>
          <p:nvPr/>
        </p:nvSpPr>
        <p:spPr>
          <a:xfrm>
            <a:off x="822960" y="4809744"/>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5</a:t>
            </a:r>
          </a:p>
        </p:txBody>
      </p:sp>
      <p:sp>
        <p:nvSpPr>
          <p:cNvPr id="14" name="TextBox 13"/>
          <p:cNvSpPr txBox="1"/>
          <p:nvPr/>
        </p:nvSpPr>
        <p:spPr>
          <a:xfrm>
            <a:off x="1444752" y="4791456"/>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What should happen if the API returns a missing or invalid value?</a:t>
            </a:r>
          </a:p>
        </p:txBody>
      </p:sp>
      <p:sp>
        <p:nvSpPr>
          <p:cNvPr id="15" name="TextBox 14"/>
          <p:cNvSpPr txBox="1"/>
          <p:nvPr/>
        </p:nvSpPr>
        <p:spPr>
          <a:xfrm>
            <a:off x="822960" y="5715000"/>
            <a:ext cx="10515600" cy="320040"/>
          </a:xfrm>
          <a:prstGeom prst="rect">
            <a:avLst/>
          </a:prstGeom>
          <a:noFill/>
        </p:spPr>
        <p:txBody>
          <a:bodyPr wrap="square" anchor="t">
            <a:spAutoFit/>
          </a:bodyPr>
          <a:lstStyle/>
          <a:p>
            <a:pPr algn="l">
              <a:defRPr sz="1250" b="0">
                <a:solidFill>
                  <a:srgbClr val="696C70"/>
                </a:solidFill>
                <a:latin typeface="Arial" panose="020B0604020202090204"/>
              </a:defRPr>
            </a:pPr>
            <a:r>
              <a:t>These questions can be answered from the research used to make the design.</a:t>
            </a:r>
          </a:p>
        </p:txBody>
      </p:sp>
      <p:sp>
        <p:nvSpPr>
          <p:cNvPr id="16" name="TextBox 15"/>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7. Final Architecture Explanation</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The whole pipeline in one story</a:t>
            </a:r>
          </a:p>
        </p:txBody>
      </p:sp>
      <p:sp>
        <p:nvSpPr>
          <p:cNvPr id="5" name="Rectangle 4"/>
          <p:cNvSpPr/>
          <p:nvPr/>
        </p:nvSpPr>
        <p:spPr>
          <a:xfrm>
            <a:off x="502920" y="1417320"/>
            <a:ext cx="2057400" cy="1005840"/>
          </a:xfrm>
          <a:prstGeom prst="rect">
            <a:avLst/>
          </a:prstGeom>
          <a:solidFill>
            <a:srgbClr val="FFFFFF"/>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SOURCE</a:t>
            </a:r>
          </a:p>
          <a:p>
            <a:pPr algn="ctr">
              <a:defRPr sz="1050">
                <a:solidFill>
                  <a:srgbClr val="696C70"/>
                </a:solidFill>
                <a:latin typeface="Arial" panose="020B0604020202090204"/>
              </a:defRPr>
            </a:pPr>
            <a:r>
              <a:t>Weather API</a:t>
            </a:r>
          </a:p>
        </p:txBody>
      </p:sp>
      <p:sp>
        <p:nvSpPr>
          <p:cNvPr id="6" name="TextBox 5"/>
          <p:cNvSpPr txBox="1"/>
          <p:nvPr/>
        </p:nvSpPr>
        <p:spPr>
          <a:xfrm>
            <a:off x="2578608"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2834639" y="1417320"/>
            <a:ext cx="2057400" cy="1005840"/>
          </a:xfrm>
          <a:prstGeom prst="rect">
            <a:avLst/>
          </a:prstGeom>
          <a:solidFill>
            <a:srgbClr val="FFFFFF"/>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MOVE</a:t>
            </a:r>
          </a:p>
          <a:p>
            <a:pPr algn="ctr">
              <a:defRPr sz="1050">
                <a:solidFill>
                  <a:srgbClr val="696C70"/>
                </a:solidFill>
                <a:latin typeface="Arial" panose="020B0604020202090204"/>
              </a:defRPr>
            </a:pPr>
            <a:r>
              <a:t>Python</a:t>
            </a:r>
          </a:p>
        </p:txBody>
      </p:sp>
      <p:sp>
        <p:nvSpPr>
          <p:cNvPr id="8" name="TextBox 7"/>
          <p:cNvSpPr txBox="1"/>
          <p:nvPr/>
        </p:nvSpPr>
        <p:spPr>
          <a:xfrm>
            <a:off x="4910327"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5166359" y="1417320"/>
            <a:ext cx="2057400" cy="1005840"/>
          </a:xfrm>
          <a:prstGeom prst="rect">
            <a:avLst/>
          </a:prstGeom>
          <a:solidFill>
            <a:srgbClr val="FFFFFF"/>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PROCESS</a:t>
            </a:r>
          </a:p>
          <a:p>
            <a:pPr algn="ctr">
              <a:defRPr sz="1050">
                <a:solidFill>
                  <a:srgbClr val="696C70"/>
                </a:solidFill>
                <a:latin typeface="Arial" panose="020B0604020202090204"/>
              </a:defRPr>
            </a:pPr>
            <a:r>
              <a:t>Pandas</a:t>
            </a:r>
          </a:p>
        </p:txBody>
      </p:sp>
      <p:sp>
        <p:nvSpPr>
          <p:cNvPr id="10" name="TextBox 9"/>
          <p:cNvSpPr txBox="1"/>
          <p:nvPr/>
        </p:nvSpPr>
        <p:spPr>
          <a:xfrm>
            <a:off x="7242048"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1" name="Rectangle 10"/>
          <p:cNvSpPr/>
          <p:nvPr/>
        </p:nvSpPr>
        <p:spPr>
          <a:xfrm>
            <a:off x="7498079" y="1417320"/>
            <a:ext cx="2057400" cy="1005840"/>
          </a:xfrm>
          <a:prstGeom prst="rect">
            <a:avLst/>
          </a:prstGeom>
          <a:solidFill>
            <a:srgbClr val="FFFFFF"/>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STORE</a:t>
            </a:r>
          </a:p>
          <a:p>
            <a:pPr algn="ctr">
              <a:defRPr sz="1050">
                <a:solidFill>
                  <a:srgbClr val="696C70"/>
                </a:solidFill>
                <a:latin typeface="Arial" panose="020B0604020202090204"/>
              </a:defRPr>
            </a:pPr>
            <a:r>
              <a:t>PostgreSQL</a:t>
            </a:r>
          </a:p>
        </p:txBody>
      </p:sp>
      <p:sp>
        <p:nvSpPr>
          <p:cNvPr id="12" name="TextBox 11"/>
          <p:cNvSpPr txBox="1"/>
          <p:nvPr/>
        </p:nvSpPr>
        <p:spPr>
          <a:xfrm>
            <a:off x="9573767"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3" name="Rectangle 12"/>
          <p:cNvSpPr/>
          <p:nvPr/>
        </p:nvSpPr>
        <p:spPr>
          <a:xfrm>
            <a:off x="9829800" y="1417320"/>
            <a:ext cx="2057400" cy="1005840"/>
          </a:xfrm>
          <a:prstGeom prst="rect">
            <a:avLst/>
          </a:prstGeom>
          <a:solidFill>
            <a:srgbClr val="FFFFFF"/>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USE</a:t>
            </a:r>
          </a:p>
          <a:p>
            <a:pPr algn="ctr">
              <a:defRPr sz="1050">
                <a:solidFill>
                  <a:srgbClr val="696C70"/>
                </a:solidFill>
                <a:latin typeface="Arial" panose="020B0604020202090204"/>
              </a:defRPr>
            </a:pPr>
            <a:r>
              <a:t>Power BI</a:t>
            </a:r>
          </a:p>
        </p:txBody>
      </p:sp>
      <p:sp>
        <p:nvSpPr>
          <p:cNvPr id="14" name="TextBox 13"/>
          <p:cNvSpPr txBox="1"/>
          <p:nvPr/>
        </p:nvSpPr>
        <p:spPr>
          <a:xfrm>
            <a:off x="914400" y="2926080"/>
            <a:ext cx="10332720" cy="365760"/>
          </a:xfrm>
          <a:prstGeom prst="rect">
            <a:avLst/>
          </a:prstGeom>
          <a:noFill/>
        </p:spPr>
        <p:txBody>
          <a:bodyPr wrap="square" anchor="t">
            <a:spAutoFit/>
          </a:bodyPr>
          <a:lstStyle/>
          <a:p>
            <a:pPr algn="l">
              <a:defRPr sz="2000" b="1">
                <a:solidFill>
                  <a:srgbClr val="233448"/>
                </a:solidFill>
                <a:latin typeface="Arial" panose="020B0604020202090204"/>
              </a:defRPr>
            </a:pPr>
            <a:r>
              <a:t>My explanation</a:t>
            </a:r>
          </a:p>
        </p:txBody>
      </p:sp>
      <p:sp>
        <p:nvSpPr>
          <p:cNvPr id="15" name="Rectangle 14"/>
          <p:cNvSpPr/>
          <p:nvPr/>
        </p:nvSpPr>
        <p:spPr>
          <a:xfrm>
            <a:off x="914400" y="3474720"/>
            <a:ext cx="10332720" cy="1508760"/>
          </a:xfrm>
          <a:prstGeom prst="rect">
            <a:avLst/>
          </a:prstGeom>
          <a:solidFill>
            <a:srgbClr val="FFFFFF"/>
          </a:solidFill>
          <a:ln w="15240">
            <a:solidFill>
              <a:srgbClr val="D6D3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 b="1">
                <a:solidFill>
                  <a:srgbClr val="30343A"/>
                </a:solidFill>
                <a:latin typeface="Arial" panose="020B0604020202090204"/>
              </a:defRPr>
            </a:pPr>
          </a:p>
          <a:p>
            <a:pPr algn="ctr">
              <a:defRPr sz="1600">
                <a:solidFill>
                  <a:srgbClr val="696C70"/>
                </a:solidFill>
                <a:latin typeface="Arial" panose="020B0604020202090204"/>
              </a:defRPr>
            </a:pPr>
            <a:r>
              <a:t>The Weather API is where the data starts. Python collects the responses and passes them to Pandas. Pandas cleans and standardizes the records. PostgreSQL keeps the processed data so the dashboard does not depend on the API every time. Finally, Power BI reads the stored data and shows useful trends.</a:t>
            </a:r>
          </a:p>
        </p:txBody>
      </p:sp>
      <p:sp>
        <p:nvSpPr>
          <p:cNvPr id="16" name="TextBox 15"/>
          <p:cNvSpPr txBox="1"/>
          <p:nvPr/>
        </p:nvSpPr>
        <p:spPr>
          <a:xfrm>
            <a:off x="1005840" y="5532120"/>
            <a:ext cx="10058400" cy="365760"/>
          </a:xfrm>
          <a:prstGeom prst="rect">
            <a:avLst/>
          </a:prstGeom>
          <a:noFill/>
        </p:spPr>
        <p:txBody>
          <a:bodyPr wrap="square" anchor="t">
            <a:spAutoFit/>
          </a:bodyPr>
          <a:lstStyle/>
          <a:p>
            <a:pPr algn="ctr">
              <a:defRPr sz="2000" b="1">
                <a:solidFill>
                  <a:srgbClr val="233448"/>
                </a:solidFill>
                <a:latin typeface="Arial" panose="020B0604020202090204"/>
              </a:defRPr>
            </a:pPr>
            <a:r>
              <a:t>Source → Movement → Processing → Storage → Usage</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rPr sz="1300">
                <a:solidFill>
                  <a:srgbClr val="111827"/>
                </a:solidFill>
              </a:rPr>
              <a:t>8. What I would say in the viva</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rPr sz="1300">
                <a:solidFill>
                  <a:srgbClr val="111827"/>
                </a:solidFill>
              </a:rPr>
              <a:t>Simple answers are better than memorized technology names</a:t>
            </a:r>
          </a:p>
        </p:txBody>
      </p:sp>
      <p:sp>
        <p:nvSpPr>
          <p:cNvPr id="5" name="Rectangle 4"/>
          <p:cNvSpPr/>
          <p:nvPr/>
        </p:nvSpPr>
        <p:spPr>
          <a:xfrm>
            <a:off x="777240" y="1417320"/>
            <a:ext cx="3246120" cy="1280160"/>
          </a:xfrm>
          <a:prstGeom prst="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rPr sz="1300">
                <a:solidFill>
                  <a:srgbClr val="1F2937"/>
                </a:solidFill>
              </a:rPr>
              <a:t>Why Python?</a:t>
            </a:r>
          </a:p>
          <a:p>
            <a:pPr algn="ctr">
              <a:defRPr sz="1100">
                <a:solidFill>
                  <a:srgbClr val="696C70"/>
                </a:solidFill>
                <a:latin typeface="Arial" panose="020B0604020202090204"/>
              </a:defRPr>
            </a:pPr>
            <a:r>
              <a:rPr sz="1300">
                <a:solidFill>
                  <a:srgbClr val="1F2937"/>
                </a:solidFill>
              </a:rPr>
              <a:t>Simple way to call the API.</a:t>
            </a:r>
          </a:p>
        </p:txBody>
      </p:sp>
      <p:sp>
        <p:nvSpPr>
          <p:cNvPr id="6" name="Rectangle 5"/>
          <p:cNvSpPr/>
          <p:nvPr/>
        </p:nvSpPr>
        <p:spPr>
          <a:xfrm>
            <a:off x="4480560" y="1417320"/>
            <a:ext cx="3246120" cy="1280160"/>
          </a:xfrm>
          <a:prstGeom prst="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rPr sz="1300">
                <a:solidFill>
                  <a:srgbClr val="1F2937"/>
                </a:solidFill>
              </a:rPr>
              <a:t>Why Pandas?</a:t>
            </a:r>
          </a:p>
          <a:p>
            <a:pPr algn="ctr">
              <a:defRPr sz="1100">
                <a:solidFill>
                  <a:srgbClr val="696C70"/>
                </a:solidFill>
                <a:latin typeface="Arial" panose="020B0604020202090204"/>
              </a:defRPr>
            </a:pPr>
            <a:r>
              <a:rPr sz="1300">
                <a:solidFill>
                  <a:srgbClr val="1F2937"/>
                </a:solidFill>
              </a:rPr>
              <a:t>Easy cleaning and transformation.</a:t>
            </a:r>
          </a:p>
        </p:txBody>
      </p:sp>
      <p:sp>
        <p:nvSpPr>
          <p:cNvPr id="7" name="Rectangle 6"/>
          <p:cNvSpPr/>
          <p:nvPr/>
        </p:nvSpPr>
        <p:spPr>
          <a:xfrm>
            <a:off x="8183879" y="1417320"/>
            <a:ext cx="3246120" cy="1280160"/>
          </a:xfrm>
          <a:prstGeom prst="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rPr sz="1300">
                <a:solidFill>
                  <a:srgbClr val="1F2937"/>
                </a:solidFill>
              </a:rPr>
              <a:t>Why PostgreSQL?</a:t>
            </a:r>
          </a:p>
          <a:p>
            <a:pPr algn="ctr">
              <a:defRPr sz="1100">
                <a:solidFill>
                  <a:srgbClr val="696C70"/>
                </a:solidFill>
                <a:latin typeface="Arial" panose="020B0604020202090204"/>
              </a:defRPr>
            </a:pPr>
            <a:r>
              <a:rPr sz="1300">
                <a:solidFill>
                  <a:srgbClr val="1F2937"/>
                </a:solidFill>
              </a:rPr>
              <a:t>Structured storage + SQL queries.</a:t>
            </a:r>
          </a:p>
        </p:txBody>
      </p:sp>
      <p:sp>
        <p:nvSpPr>
          <p:cNvPr id="8" name="TextBox 7"/>
          <p:cNvSpPr txBox="1"/>
          <p:nvPr/>
        </p:nvSpPr>
        <p:spPr>
          <a:xfrm>
            <a:off x="868680" y="3154680"/>
            <a:ext cx="10332720" cy="365760"/>
          </a:xfrm>
          <a:prstGeom prst="rect">
            <a:avLst/>
          </a:prstGeom>
          <a:noFill/>
        </p:spPr>
        <p:txBody>
          <a:bodyPr wrap="square" anchor="t">
            <a:spAutoFit/>
          </a:bodyPr>
          <a:lstStyle/>
          <a:p>
            <a:pPr algn="l">
              <a:defRPr sz="1900" b="1">
                <a:solidFill>
                  <a:srgbClr val="233448"/>
                </a:solidFill>
                <a:latin typeface="Arial" panose="020B0604020202090204"/>
              </a:defRPr>
            </a:pPr>
            <a:r>
              <a:rPr sz="1300">
                <a:solidFill>
                  <a:srgbClr val="1F2937"/>
                </a:solidFill>
              </a:rPr>
              <a:t>The main idea I should be able to explain:</a:t>
            </a:r>
          </a:p>
        </p:txBody>
      </p:sp>
      <p:sp>
        <p:nvSpPr>
          <p:cNvPr id="9" name="TextBox 8"/>
          <p:cNvSpPr txBox="1"/>
          <p:nvPr/>
        </p:nvSpPr>
        <p:spPr>
          <a:xfrm>
            <a:off x="914400" y="3703320"/>
            <a:ext cx="10241280" cy="1234440"/>
          </a:xfrm>
          <a:prstGeom prst="rect">
            <a:avLst/>
          </a:prstGeom>
          <a:noFill/>
        </p:spPr>
        <p:txBody>
          <a:bodyPr wrap="square" anchor="t">
            <a:spAutoFit/>
          </a:bodyPr>
          <a:lstStyle/>
          <a:p>
            <a:pPr algn="l">
              <a:defRPr sz="1700" b="0">
                <a:solidFill>
                  <a:srgbClr val="30343A"/>
                </a:solidFill>
                <a:latin typeface="Arial" panose="020B0604020202090204"/>
              </a:defRPr>
            </a:pPr>
            <a:r>
              <a:rPr sz="1300">
                <a:solidFill>
                  <a:srgbClr val="1F2937"/>
                </a:solidFill>
              </a:rPr>
              <a:t>Each stage has a different job. The source produces data, ingestion brings it in, processing makes it usable, storage keeps it available, and the consumer turns it into something people can use.</a:t>
            </a:r>
          </a:p>
        </p:txBody>
      </p:sp>
      <p:sp>
        <p:nvSpPr>
          <p:cNvPr id="10" name="TextBox 9"/>
          <p:cNvSpPr txBox="1"/>
          <p:nvPr/>
        </p:nvSpPr>
        <p:spPr>
          <a:xfrm>
            <a:off x="914400" y="5349240"/>
            <a:ext cx="10241280" cy="457200"/>
          </a:xfrm>
          <a:prstGeom prst="rect">
            <a:avLst/>
          </a:prstGeom>
          <a:noFill/>
        </p:spPr>
        <p:txBody>
          <a:bodyPr wrap="square" anchor="t">
            <a:spAutoFit/>
          </a:bodyPr>
          <a:lstStyle/>
          <a:p>
            <a:pPr algn="l">
              <a:defRPr sz="1400" b="0">
                <a:solidFill>
                  <a:srgbClr val="696C70"/>
                </a:solidFill>
                <a:latin typeface="Arial" panose="020B0604020202090204"/>
              </a:defRPr>
            </a:pPr>
            <a:r>
              <a:rPr sz="1300">
                <a:solidFill>
                  <a:srgbClr val="1F2937"/>
                </a:solidFill>
              </a:rPr>
              <a:t>I chose a simple design because the assignment values clear reasoning over unnecessary complexity.</a:t>
            </a:r>
          </a:p>
        </p:txBody>
      </p:sp>
      <p:sp>
        <p:nvSpPr>
          <p:cNvPr id="11" name="TextBox 10"/>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rPr sz="1300">
                <a:solidFill>
                  <a:srgbClr val="1F2937"/>
                </a:solidFill>
              </a:rPr>
              <a:t>Data Pipeline Design • Weather Analytics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8. My Research Before Finalizing the Pipeline</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I researched the actual decisions in my design instead of using a standard question list.</a:t>
            </a:r>
          </a:p>
        </p:txBody>
      </p:sp>
      <p:sp>
        <p:nvSpPr>
          <p:cNvPr id="4" name="Rounded Rectangle 3"/>
          <p:cNvSpPr/>
          <p:nvPr/>
        </p:nvSpPr>
        <p:spPr>
          <a:xfrm>
            <a:off x="640080" y="1417320"/>
            <a:ext cx="3429000" cy="123444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1. Source</a:t>
            </a:r>
          </a:p>
          <a:p>
            <a:pPr>
              <a:spcBef>
                <a:spcPts val="500"/>
              </a:spcBef>
              <a:defRPr sz="1150">
                <a:latin typeface="Aptos"/>
              </a:defRPr>
            </a:pPr>
            <a:r>
              <a:rPr sz="1300">
                <a:solidFill>
                  <a:srgbClr val="1F2937"/>
                </a:solidFill>
              </a:rPr>
              <a:t>What data does the weather API actually provide, and which fields are useful?</a:t>
            </a:r>
          </a:p>
        </p:txBody>
      </p:sp>
      <p:sp>
        <p:nvSpPr>
          <p:cNvPr id="5" name="Rounded Rectangle 4"/>
          <p:cNvSpPr/>
          <p:nvPr/>
        </p:nvSpPr>
        <p:spPr>
          <a:xfrm>
            <a:off x="4343400" y="1417320"/>
            <a:ext cx="3429000" cy="123444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2. Ingestion</a:t>
            </a:r>
          </a:p>
          <a:p>
            <a:pPr>
              <a:spcBef>
                <a:spcPts val="500"/>
              </a:spcBef>
              <a:defRPr sz="1150">
                <a:latin typeface="Aptos"/>
              </a:defRPr>
            </a:pPr>
            <a:r>
              <a:rPr sz="1300">
                <a:solidFill>
                  <a:srgbClr val="1F2937"/>
                </a:solidFill>
              </a:rPr>
              <a:t>How should an API response be collected, and what happens when a request fails?</a:t>
            </a:r>
          </a:p>
        </p:txBody>
      </p:sp>
      <p:sp>
        <p:nvSpPr>
          <p:cNvPr id="6" name="Rounded Rectangle 5"/>
          <p:cNvSpPr/>
          <p:nvPr/>
        </p:nvSpPr>
        <p:spPr>
          <a:xfrm>
            <a:off x="8046720" y="1417320"/>
            <a:ext cx="3429000" cy="123444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3. Processing</a:t>
            </a:r>
          </a:p>
          <a:p>
            <a:pPr>
              <a:spcBef>
                <a:spcPts val="500"/>
              </a:spcBef>
              <a:defRPr sz="1150">
                <a:latin typeface="Aptos"/>
              </a:defRPr>
            </a:pPr>
            <a:r>
              <a:rPr sz="1300">
                <a:solidFill>
                  <a:srgbClr val="1F2937"/>
                </a:solidFill>
              </a:rPr>
              <a:t>How can JSON weather data become consistent, tabular records?</a:t>
            </a:r>
          </a:p>
        </p:txBody>
      </p:sp>
      <p:sp>
        <p:nvSpPr>
          <p:cNvPr id="7" name="Rounded Rectangle 6"/>
          <p:cNvSpPr/>
          <p:nvPr/>
        </p:nvSpPr>
        <p:spPr>
          <a:xfrm>
            <a:off x="2514600" y="3154680"/>
            <a:ext cx="3429000" cy="123444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4. Storage</a:t>
            </a:r>
          </a:p>
          <a:p>
            <a:pPr>
              <a:spcBef>
                <a:spcPts val="500"/>
              </a:spcBef>
              <a:defRPr sz="1150">
                <a:latin typeface="Aptos"/>
              </a:defRPr>
            </a:pPr>
            <a:r>
              <a:rPr sz="1300">
                <a:solidFill>
                  <a:srgbClr val="1F2937"/>
                </a:solidFill>
              </a:rPr>
              <a:t>What database types and rules fit structured weather observations?</a:t>
            </a:r>
          </a:p>
        </p:txBody>
      </p:sp>
      <p:sp>
        <p:nvSpPr>
          <p:cNvPr id="8" name="Rounded Rectangle 7"/>
          <p:cNvSpPr/>
          <p:nvPr/>
        </p:nvSpPr>
        <p:spPr>
          <a:xfrm>
            <a:off x="6217920" y="3154680"/>
            <a:ext cx="3429000" cy="123444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5. Consumer</a:t>
            </a:r>
          </a:p>
          <a:p>
            <a:pPr>
              <a:spcBef>
                <a:spcPts val="500"/>
              </a:spcBef>
              <a:defRPr sz="1150">
                <a:latin typeface="Aptos"/>
              </a:defRPr>
            </a:pPr>
            <a:r>
              <a:rPr sz="1300">
                <a:solidFill>
                  <a:srgbClr val="1F2937"/>
                </a:solidFill>
              </a:rPr>
              <a:t>Can the selected storage layer work with the dashboard tool?</a:t>
            </a:r>
          </a:p>
        </p:txBody>
      </p:sp>
      <p:sp>
        <p:nvSpPr>
          <p:cNvPr id="9" name="TextBox 8"/>
          <p:cNvSpPr txBox="1"/>
          <p:nvPr/>
        </p:nvSpPr>
        <p:spPr>
          <a:xfrm>
            <a:off x="914400" y="4892040"/>
            <a:ext cx="10241280" cy="502920"/>
          </a:xfrm>
          <a:prstGeom prst="rect">
            <a:avLst/>
          </a:prstGeom>
          <a:noFill/>
        </p:spPr>
        <p:txBody>
          <a:bodyPr wrap="square">
            <a:spAutoFit/>
          </a:bodyPr>
          <a:lstStyle/>
          <a:p>
            <a:pPr>
              <a:defRPr sz="1900" b="1">
                <a:latin typeface="Aptos"/>
              </a:defRPr>
            </a:pPr>
            <a:r>
              <a:rPr sz="1300">
                <a:solidFill>
                  <a:srgbClr val="1F2937"/>
                </a:solidFill>
              </a:rPr>
              <a:t>Research → understand the requirement → make or confirm a design decision.</a:t>
            </a:r>
          </a:p>
        </p:txBody>
      </p:sp>
      <p:sp>
        <p:nvSpPr>
          <p:cNvPr id="10" name="TextBox 9"/>
          <p:cNvSpPr txBox="1"/>
          <p:nvPr/>
        </p:nvSpPr>
        <p:spPr>
          <a:xfrm>
            <a:off x="914400" y="5486400"/>
            <a:ext cx="10241280" cy="502920"/>
          </a:xfrm>
          <a:prstGeom prst="rect">
            <a:avLst/>
          </a:prstGeom>
          <a:noFill/>
        </p:spPr>
        <p:txBody>
          <a:bodyPr wrap="square">
            <a:spAutoFit/>
          </a:bodyPr>
          <a:lstStyle/>
          <a:p>
            <a:pPr>
              <a:defRPr sz="1200" b="0">
                <a:latin typeface="Aptos"/>
              </a:defRPr>
            </a:pPr>
            <a:r>
              <a:rPr sz="1300">
                <a:solidFill>
                  <a:srgbClr val="1F2937"/>
                </a:solidFill>
              </a:rPr>
              <a:t>This research led to the same simple architecture, but now I can explain why each stage and technology is there.</a:t>
            </a:r>
          </a:p>
        </p:txBody>
      </p:sp>
      <p:sp>
        <p:nvSpPr>
          <p:cNvPr id="11" name="TextBox 10"/>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9. Research: Source and Ingestion</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Research helped me decide what the first two stages of the pipeline should do.</a:t>
            </a:r>
          </a:p>
        </p:txBody>
      </p:sp>
      <p:sp>
        <p:nvSpPr>
          <p:cNvPr id="4" name="Rounded Rectangle 3"/>
          <p:cNvSpPr/>
          <p:nvPr/>
        </p:nvSpPr>
        <p:spPr>
          <a:xfrm>
            <a:off x="59436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Open-Meteo Weather API — what I learned</a:t>
            </a:r>
          </a:p>
          <a:p>
            <a:pPr>
              <a:spcBef>
                <a:spcPts val="500"/>
              </a:spcBef>
              <a:defRPr sz="1150">
                <a:latin typeface="Aptos"/>
              </a:defRPr>
            </a:pPr>
            <a:r>
              <a:rPr sz="1300">
                <a:solidFill>
                  <a:srgbClr val="111827"/>
                </a:solidFill>
              </a:rPr>
              <a:t>The documentation shows that the API provides structured weather observations and variables such as temperature, relative humidity, apparent temperature, precipitation and wind-related measurements.</a:t>
            </a:r>
            <a:br/>
            <a:br/>
            <a:r>
              <a:rPr sz="1300">
                <a:solidFill>
                  <a:srgbClr val="111827"/>
                </a:solidFill>
              </a:rPr>
              <a:t>This helped me choose the weather fields I would carry into the pipeline.</a:t>
            </a:r>
          </a:p>
        </p:txBody>
      </p:sp>
      <p:sp>
        <p:nvSpPr>
          <p:cNvPr id="5" name="Rounded Rectangle 4"/>
          <p:cNvSpPr/>
          <p:nvPr/>
        </p:nvSpPr>
        <p:spPr>
          <a:xfrm>
            <a:off x="617220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How this influenced my design</a:t>
            </a:r>
          </a:p>
          <a:p>
            <a:pPr>
              <a:spcBef>
                <a:spcPts val="500"/>
              </a:spcBef>
              <a:defRPr sz="1150">
                <a:latin typeface="Aptos"/>
              </a:defRPr>
            </a:pPr>
            <a:r>
              <a:rPr sz="1300">
                <a:solidFill>
                  <a:srgbClr val="111827"/>
                </a:solidFill>
              </a:rPr>
              <a:t>I selected the API as the source and kept the source stage focused on collecting observations rather than doing analysis there.</a:t>
            </a:r>
            <a:br/>
            <a:br/>
            <a:r>
              <a:rPr sz="1300">
                <a:solidFill>
                  <a:srgbClr val="111827"/>
                </a:solidFill>
              </a:rPr>
              <a:t>Selected examples: timestamp, temperature, humidity, apparent temperature and wind speed.</a:t>
            </a:r>
          </a:p>
        </p:txBody>
      </p:sp>
      <p:sp>
        <p:nvSpPr>
          <p:cNvPr id="6" name="Rounded Rectangle 5"/>
          <p:cNvSpPr/>
          <p:nvPr/>
        </p:nvSpPr>
        <p:spPr>
          <a:xfrm>
            <a:off x="59436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Requests / Python — what I learned</a:t>
            </a:r>
          </a:p>
          <a:p>
            <a:pPr>
              <a:spcBef>
                <a:spcPts val="500"/>
              </a:spcBef>
              <a:defRPr sz="1150">
                <a:latin typeface="Aptos"/>
              </a:defRPr>
            </a:pPr>
            <a:r>
              <a:rPr sz="1300">
                <a:solidFill>
                  <a:srgbClr val="1F2937"/>
                </a:solidFill>
              </a:rPr>
              <a:t>The Requests documentation explains HTTP requests and highlights the importance of timeouts and handling request errors.</a:t>
            </a:r>
            <a:br/>
            <a:br/>
            <a:r>
              <a:rPr sz="1300">
                <a:solidFill>
                  <a:srgbClr val="1F2937"/>
                </a:solidFill>
              </a:rPr>
              <a:t>This showed me that ingestion is not only “call the API”; it also needs basic failure handling.</a:t>
            </a:r>
          </a:p>
        </p:txBody>
      </p:sp>
      <p:sp>
        <p:nvSpPr>
          <p:cNvPr id="7" name="Rounded Rectangle 6"/>
          <p:cNvSpPr/>
          <p:nvPr/>
        </p:nvSpPr>
        <p:spPr>
          <a:xfrm>
            <a:off x="617220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How this influenced my design</a:t>
            </a:r>
          </a:p>
          <a:p>
            <a:pPr>
              <a:spcBef>
                <a:spcPts val="500"/>
              </a:spcBef>
              <a:defRPr sz="1150">
                <a:latin typeface="Aptos"/>
              </a:defRPr>
            </a:pPr>
            <a:r>
              <a:rPr sz="1300">
                <a:solidFill>
                  <a:srgbClr val="1F2937"/>
                </a:solidFill>
              </a:rPr>
              <a:t>I kept Python as the ingestion layer because it gives me a simple way to request the API data and handle the returned response.</a:t>
            </a:r>
            <a:br/>
            <a:br/>
            <a:r>
              <a:rPr sz="1300">
                <a:solidFill>
                  <a:srgbClr val="1F2937"/>
                </a:solidFill>
              </a:rPr>
              <a:t>I did not add a separate streaming platform because this design does not require one.</a:t>
            </a:r>
          </a:p>
        </p:txBody>
      </p:sp>
      <p:sp>
        <p:nvSpPr>
          <p:cNvPr id="8" name="TextBox 7"/>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10. Research: Processing and Storage</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The research helped me understand why the raw API response should not go directly into the final database.</a:t>
            </a:r>
          </a:p>
        </p:txBody>
      </p:sp>
      <p:sp>
        <p:nvSpPr>
          <p:cNvPr id="4" name="Rounded Rectangle 3"/>
          <p:cNvSpPr/>
          <p:nvPr/>
        </p:nvSpPr>
        <p:spPr>
          <a:xfrm>
            <a:off x="59436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Pandas — what I learned</a:t>
            </a:r>
          </a:p>
          <a:p>
            <a:pPr>
              <a:spcBef>
                <a:spcPts val="500"/>
              </a:spcBef>
              <a:defRPr sz="1150">
                <a:latin typeface="Aptos"/>
              </a:defRPr>
            </a:pPr>
            <a:r>
              <a:rPr sz="1300">
                <a:solidFill>
                  <a:srgbClr val="111827"/>
                </a:solidFill>
              </a:rPr>
              <a:t>Pandas provides tools for reading JSON / JSON-like data into DataFrames and working with semi-structured data.</a:t>
            </a:r>
            <a:br/>
            <a:br/>
            <a:r>
              <a:rPr sz="1300">
                <a:solidFill>
                  <a:srgbClr val="111827"/>
                </a:solidFill>
              </a:rPr>
              <a:t>That matches the processing job in my pipeline: turn the API response into a consistent table that can be cleaned and validated.</a:t>
            </a:r>
          </a:p>
        </p:txBody>
      </p:sp>
      <p:sp>
        <p:nvSpPr>
          <p:cNvPr id="5" name="Rounded Rectangle 4"/>
          <p:cNvSpPr/>
          <p:nvPr/>
        </p:nvSpPr>
        <p:spPr>
          <a:xfrm>
            <a:off x="617220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How this influenced my design</a:t>
            </a:r>
          </a:p>
          <a:p>
            <a:pPr>
              <a:spcBef>
                <a:spcPts val="500"/>
              </a:spcBef>
              <a:defRPr sz="1150">
                <a:latin typeface="Aptos"/>
              </a:defRPr>
            </a:pPr>
            <a:r>
              <a:rPr sz="1300">
                <a:solidFill>
                  <a:srgbClr val="111827"/>
                </a:solidFill>
              </a:rPr>
              <a:t>I use Pandas for:</a:t>
            </a:r>
            <a:br/>
            <a:r>
              <a:rPr sz="1300">
                <a:solidFill>
                  <a:srgbClr val="111827"/>
                </a:solidFill>
              </a:rPr>
              <a:t>• type conversion</a:t>
            </a:r>
            <a:br/>
            <a:r>
              <a:rPr sz="1300">
                <a:solidFill>
                  <a:srgbClr val="111827"/>
                </a:solidFill>
              </a:rPr>
              <a:t>• missing-value checks</a:t>
            </a:r>
            <a:br/>
            <a:r>
              <a:rPr sz="1300">
                <a:solidFill>
                  <a:srgbClr val="111827"/>
                </a:solidFill>
              </a:rPr>
              <a:t>• range validation</a:t>
            </a:r>
            <a:br/>
            <a:r>
              <a:rPr sz="1300">
                <a:solidFill>
                  <a:srgbClr val="111827"/>
                </a:solidFill>
              </a:rPr>
              <a:t>• timestamp standardization</a:t>
            </a:r>
            <a:br/>
            <a:r>
              <a:rPr sz="1300">
                <a:solidFill>
                  <a:srgbClr val="111827"/>
                </a:solidFill>
              </a:rPr>
              <a:t>• duplicate removal</a:t>
            </a:r>
            <a:br/>
            <a:r>
              <a:rPr sz="1300">
                <a:solidFill>
                  <a:srgbClr val="111827"/>
                </a:solidFill>
              </a:rPr>
              <a:t>• selecting required fields</a:t>
            </a:r>
          </a:p>
        </p:txBody>
      </p:sp>
      <p:sp>
        <p:nvSpPr>
          <p:cNvPr id="6" name="Rounded Rectangle 5"/>
          <p:cNvSpPr/>
          <p:nvPr/>
        </p:nvSpPr>
        <p:spPr>
          <a:xfrm>
            <a:off x="59436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PostgreSQL — what I learned</a:t>
            </a:r>
          </a:p>
          <a:p>
            <a:pPr>
              <a:spcBef>
                <a:spcPts val="500"/>
              </a:spcBef>
              <a:defRPr sz="1150">
                <a:latin typeface="Aptos"/>
              </a:defRPr>
            </a:pPr>
            <a:r>
              <a:rPr sz="1300">
                <a:solidFill>
                  <a:srgbClr val="1F2937"/>
                </a:solidFill>
              </a:rPr>
              <a:t>PostgreSQL supports numeric and date/time data types and provides constraints such as NOT NULL, UNIQUE and CHECK.</a:t>
            </a:r>
            <a:br/>
            <a:br/>
            <a:r>
              <a:rPr sz="1300">
                <a:solidFill>
                  <a:srgbClr val="1F2937"/>
                </a:solidFill>
              </a:rPr>
              <a:t>This is useful for structured weather records where data quality rules can be enforced.</a:t>
            </a:r>
          </a:p>
        </p:txBody>
      </p:sp>
      <p:sp>
        <p:nvSpPr>
          <p:cNvPr id="7" name="Rounded Rectangle 6"/>
          <p:cNvSpPr/>
          <p:nvPr/>
        </p:nvSpPr>
        <p:spPr>
          <a:xfrm>
            <a:off x="617220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How this influenced my design</a:t>
            </a:r>
          </a:p>
          <a:p>
            <a:pPr>
              <a:spcBef>
                <a:spcPts val="500"/>
              </a:spcBef>
              <a:defRPr sz="1150">
                <a:latin typeface="Aptos"/>
              </a:defRPr>
            </a:pPr>
            <a:r>
              <a:rPr sz="1300">
                <a:solidFill>
                  <a:srgbClr val="1F2937"/>
                </a:solidFill>
              </a:rPr>
              <a:t>I chose PostgreSQL because the processed weather data is structured and naturally fits relational tables.</a:t>
            </a:r>
            <a:br/>
            <a:br/>
            <a:r>
              <a:rPr sz="1300">
                <a:solidFill>
                  <a:srgbClr val="1F2937"/>
                </a:solidFill>
              </a:rPr>
              <a:t>I did not add a more complex storage system just to make the architecture look advanced.</a:t>
            </a:r>
          </a:p>
        </p:txBody>
      </p:sp>
      <p:sp>
        <p:nvSpPr>
          <p:cNvPr id="8" name="TextBox 7"/>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11. Research: Consumer and Architecture Complexity</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I also checked whether the final storage layer actually fits the chosen dashboard tool.</a:t>
            </a:r>
          </a:p>
        </p:txBody>
      </p:sp>
      <p:sp>
        <p:nvSpPr>
          <p:cNvPr id="4" name="Rounded Rectangle 3"/>
          <p:cNvSpPr/>
          <p:nvPr/>
        </p:nvSpPr>
        <p:spPr>
          <a:xfrm>
            <a:off x="59436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Power BI — what I learned</a:t>
            </a:r>
          </a:p>
          <a:p>
            <a:pPr>
              <a:spcBef>
                <a:spcPts val="500"/>
              </a:spcBef>
              <a:defRPr sz="1150">
                <a:latin typeface="Aptos"/>
              </a:defRPr>
            </a:pPr>
            <a:r>
              <a:rPr sz="1300">
                <a:solidFill>
                  <a:srgbClr val="111827"/>
                </a:solidFill>
              </a:rPr>
              <a:t>Microsoft Learn documents PostgreSQL as a supported Power BI data source and describes connection options including Import and DirectQuery.</a:t>
            </a:r>
            <a:br/>
            <a:br/>
            <a:r>
              <a:rPr sz="1300">
                <a:solidFill>
                  <a:srgbClr val="111827"/>
                </a:solidFill>
              </a:rPr>
              <a:t>This confirmed that PostgreSQL can be the storage layer while Power BI acts as the consumer.</a:t>
            </a:r>
          </a:p>
        </p:txBody>
      </p:sp>
      <p:sp>
        <p:nvSpPr>
          <p:cNvPr id="5" name="Rounded Rectangle 4"/>
          <p:cNvSpPr/>
          <p:nvPr/>
        </p:nvSpPr>
        <p:spPr>
          <a:xfrm>
            <a:off x="6172200" y="118872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11827"/>
                </a:solidFill>
              </a:rPr>
              <a:t>Design decision</a:t>
            </a:r>
          </a:p>
          <a:p>
            <a:pPr>
              <a:spcBef>
                <a:spcPts val="500"/>
              </a:spcBef>
              <a:defRPr sz="1150">
                <a:latin typeface="Aptos"/>
              </a:defRPr>
            </a:pPr>
            <a:r>
              <a:rPr sz="1300">
                <a:solidFill>
                  <a:srgbClr val="111827"/>
                </a:solidFill>
              </a:rPr>
              <a:t>My final connection is:</a:t>
            </a:r>
            <a:br/>
            <a:br/>
            <a:r>
              <a:rPr sz="1300">
                <a:solidFill>
                  <a:srgbClr val="111827"/>
                </a:solidFill>
              </a:rPr>
              <a:t>PostgreSQL → Power BI</a:t>
            </a:r>
            <a:br/>
            <a:br/>
            <a:r>
              <a:rPr sz="1300">
                <a:solidFill>
                  <a:srgbClr val="111827"/>
                </a:solidFill>
              </a:rPr>
              <a:t>So the dashboard does not need to depend directly on the weather API for every view.</a:t>
            </a:r>
          </a:p>
        </p:txBody>
      </p:sp>
      <p:sp>
        <p:nvSpPr>
          <p:cNvPr id="6" name="Rounded Rectangle 5"/>
          <p:cNvSpPr/>
          <p:nvPr/>
        </p:nvSpPr>
        <p:spPr>
          <a:xfrm>
            <a:off x="59436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Why not Kafka / Spark / Airflow?</a:t>
            </a:r>
          </a:p>
          <a:p>
            <a:pPr>
              <a:spcBef>
                <a:spcPts val="500"/>
              </a:spcBef>
              <a:defRPr sz="1150">
                <a:latin typeface="Aptos"/>
              </a:defRPr>
            </a:pPr>
            <a:r>
              <a:rPr sz="1300">
                <a:solidFill>
                  <a:srgbClr val="1F2937"/>
                </a:solidFill>
              </a:rPr>
              <a:t>I considered whether a more complex pipeline would be better. General pipeline guidance shows that architecture depends on requirements such as data volume, velocity, transformation needs and downstream use.</a:t>
            </a:r>
          </a:p>
        </p:txBody>
      </p:sp>
      <p:sp>
        <p:nvSpPr>
          <p:cNvPr id="7" name="Rounded Rectangle 6"/>
          <p:cNvSpPr/>
          <p:nvPr/>
        </p:nvSpPr>
        <p:spPr>
          <a:xfrm>
            <a:off x="6172200" y="3520440"/>
            <a:ext cx="5303520" cy="20574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My reasoning</a:t>
            </a:r>
          </a:p>
          <a:p>
            <a:pPr>
              <a:spcBef>
                <a:spcPts val="500"/>
              </a:spcBef>
              <a:defRPr sz="1150">
                <a:latin typeface="Aptos"/>
              </a:defRPr>
            </a:pPr>
            <a:r>
              <a:rPr sz="1300">
                <a:solidFill>
                  <a:srgbClr val="1F2937"/>
                </a:solidFill>
              </a:rPr>
              <a:t>For this assignment I have one weather API, structured data, basic transformations, relational storage and a dashboard.</a:t>
            </a:r>
            <a:br/>
            <a:br/>
            <a:r>
              <a:rPr sz="1300">
                <a:solidFill>
                  <a:srgbClr val="1F2937"/>
                </a:solidFill>
              </a:rPr>
              <a:t>Therefore I deliberately kept the design simple instead of adding tools that do not solve a requirement.</a:t>
            </a:r>
          </a:p>
        </p:txBody>
      </p:sp>
      <p:sp>
        <p:nvSpPr>
          <p:cNvPr id="8" name="TextBox 7"/>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12. Research → Final Design Decisions</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Each source was used for a specific design decision, not just listed as a reference.</a:t>
            </a:r>
          </a:p>
        </p:txBody>
      </p:sp>
      <p:graphicFrame>
        <p:nvGraphicFramePr>
          <p:cNvPr id="4" name="Table 3"/>
          <p:cNvGraphicFramePr>
            <a:graphicFrameLocks noGrp="1"/>
          </p:cNvGraphicFramePr>
          <p:nvPr/>
        </p:nvGraphicFramePr>
        <p:xfrm>
          <a:off x="457200" y="1234440"/>
          <a:ext cx="11247119" cy="4800600"/>
        </p:xfrm>
        <a:graphic>
          <a:graphicData uri="http://schemas.openxmlformats.org/drawingml/2006/table">
            <a:tbl>
              <a:tblPr firstRow="1" bandRow="1">
                <a:tableStyleId>{5C22544A-7EE6-4342-B048-85BDC9FD1C3A}</a:tableStyleId>
              </a:tblPr>
              <a:tblGrid>
                <a:gridCol w="2331720"/>
                <a:gridCol w="3977639"/>
                <a:gridCol w="4937760"/>
              </a:tblGrid>
              <a:tr h="685800">
                <a:tc>
                  <a:txBody>
                    <a:bodyPr/>
                    <a:lstStyle/>
                    <a:p>
                      <a:pPr algn="l">
                        <a:defRPr sz="1200" b="1">
                          <a:latin typeface="Aptos"/>
                        </a:defRPr>
                      </a:pPr>
                      <a:r>
                        <a:rPr sz="1100">
                          <a:solidFill>
                            <a:srgbClr val="111827"/>
                          </a:solidFill>
                          <a:latin typeface="Aptos"/>
                        </a:rPr>
                        <a:t>Research source</a:t>
                      </a:r>
                    </a:p>
                  </a:txBody>
                  <a:tcPr marL="45720" marR="45720" marT="27432" marB="27432">
                    <a:solidFill>
                      <a:srgbClr val="E2E8F0"/>
                    </a:solidFill>
                  </a:tcPr>
                </a:tc>
                <a:tc>
                  <a:txBody>
                    <a:bodyPr/>
                    <a:lstStyle/>
                    <a:p>
                      <a:pPr algn="l">
                        <a:defRPr sz="1200" b="1">
                          <a:latin typeface="Aptos"/>
                        </a:defRPr>
                      </a:pPr>
                      <a:r>
                        <a:rPr sz="1100">
                          <a:solidFill>
                            <a:srgbClr val="111827"/>
                          </a:solidFill>
                          <a:latin typeface="Aptos"/>
                        </a:rPr>
                        <a:t>What I used from it</a:t>
                      </a:r>
                    </a:p>
                  </a:txBody>
                  <a:tcPr marL="45720" marR="45720" marT="27432" marB="27432">
                    <a:solidFill>
                      <a:srgbClr val="E2E8F0"/>
                    </a:solidFill>
                  </a:tcPr>
                </a:tc>
                <a:tc>
                  <a:txBody>
                    <a:bodyPr/>
                    <a:lstStyle/>
                    <a:p>
                      <a:pPr algn="l">
                        <a:defRPr sz="1200" b="1">
                          <a:latin typeface="Aptos"/>
                        </a:defRPr>
                      </a:pPr>
                      <a:r>
                        <a:rPr sz="1100">
                          <a:solidFill>
                            <a:srgbClr val="111827"/>
                          </a:solidFill>
                          <a:latin typeface="Aptos"/>
                        </a:rPr>
                        <a:t>Effect on my design</a:t>
                      </a:r>
                    </a:p>
                  </a:txBody>
                  <a:tcPr marL="45720" marR="45720" marT="27432" marB="27432">
                    <a:solidFill>
                      <a:srgbClr val="E2E8F0"/>
                    </a:solidFill>
                  </a:tcPr>
                </a:tc>
              </a:tr>
              <a:tr h="685800">
                <a:tc>
                  <a:txBody>
                    <a:bodyPr/>
                    <a:lstStyle/>
                    <a:p>
                      <a:pPr algn="l">
                        <a:defRPr sz="1050" b="0">
                          <a:latin typeface="Aptos"/>
                        </a:defRPr>
                      </a:pPr>
                      <a:r>
                        <a:rPr sz="1100">
                          <a:solidFill>
                            <a:srgbClr val="1F2937"/>
                          </a:solidFill>
                          <a:latin typeface="Aptos"/>
                        </a:rPr>
                        <a:t>Open-Meteo documentation</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Available weather variables and structured API response</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Weather API as source; selected useful weather fields</a:t>
                      </a:r>
                    </a:p>
                  </a:txBody>
                  <a:tcPr marL="45720" marR="45720" marT="27432" marB="27432">
                    <a:solidFill>
                      <a:srgbClr val="F8FAFC"/>
                    </a:solidFill>
                  </a:tcPr>
                </a:tc>
              </a:tr>
              <a:tr h="685800">
                <a:tc>
                  <a:txBody>
                    <a:bodyPr/>
                    <a:lstStyle/>
                    <a:p>
                      <a:pPr algn="l">
                        <a:defRPr sz="1050" b="0">
                          <a:latin typeface="Aptos"/>
                        </a:defRPr>
                      </a:pPr>
                      <a:r>
                        <a:rPr sz="1100">
                          <a:solidFill>
                            <a:srgbClr val="1F2937"/>
                          </a:solidFill>
                          <a:latin typeface="Aptos"/>
                        </a:rPr>
                        <a:t>Requests documentation</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HTTP requests, timeouts and request errors</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Python used for API ingestion and basic error handling</a:t>
                      </a:r>
                    </a:p>
                  </a:txBody>
                  <a:tcPr marL="45720" marR="45720" marT="27432" marB="27432">
                    <a:solidFill>
                      <a:srgbClr val="F8FAFC"/>
                    </a:solidFill>
                  </a:tcPr>
                </a:tc>
              </a:tr>
              <a:tr h="685800">
                <a:tc>
                  <a:txBody>
                    <a:bodyPr/>
                    <a:lstStyle/>
                    <a:p>
                      <a:pPr algn="l">
                        <a:defRPr sz="1050" b="0">
                          <a:latin typeface="Aptos"/>
                        </a:defRPr>
                      </a:pPr>
                      <a:r>
                        <a:rPr sz="1100">
                          <a:solidFill>
                            <a:srgbClr val="1F2937"/>
                          </a:solidFill>
                          <a:latin typeface="Aptos"/>
                        </a:rPr>
                        <a:t>Pandas documentation</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JSON / JSON-like data → DataFrame</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Pandas used for cleaning and transformation</a:t>
                      </a:r>
                    </a:p>
                  </a:txBody>
                  <a:tcPr marL="45720" marR="45720" marT="27432" marB="27432">
                    <a:solidFill>
                      <a:srgbClr val="F8FAFC"/>
                    </a:solidFill>
                  </a:tcPr>
                </a:tc>
              </a:tr>
              <a:tr h="685800">
                <a:tc>
                  <a:txBody>
                    <a:bodyPr/>
                    <a:lstStyle/>
                    <a:p>
                      <a:pPr algn="l">
                        <a:defRPr sz="1050" b="0">
                          <a:latin typeface="Aptos"/>
                        </a:defRPr>
                      </a:pPr>
                      <a:r>
                        <a:rPr sz="1100">
                          <a:solidFill>
                            <a:srgbClr val="1F2937"/>
                          </a:solidFill>
                          <a:latin typeface="Aptos"/>
                        </a:rPr>
                        <a:t>PostgreSQL documentation</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Data types and data-quality constraints</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Relational storage for processed weather records</a:t>
                      </a:r>
                    </a:p>
                  </a:txBody>
                  <a:tcPr marL="45720" marR="45720" marT="27432" marB="27432">
                    <a:solidFill>
                      <a:srgbClr val="F8FAFC"/>
                    </a:solidFill>
                  </a:tcPr>
                </a:tc>
              </a:tr>
              <a:tr h="685800">
                <a:tc>
                  <a:txBody>
                    <a:bodyPr/>
                    <a:lstStyle/>
                    <a:p>
                      <a:pPr algn="l">
                        <a:defRPr sz="1050" b="0">
                          <a:latin typeface="Aptos"/>
                        </a:defRPr>
                      </a:pPr>
                      <a:r>
                        <a:rPr sz="1100">
                          <a:solidFill>
                            <a:srgbClr val="1F2937"/>
                          </a:solidFill>
                          <a:latin typeface="Aptos"/>
                        </a:rPr>
                        <a:t>Microsoft Learn</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PostgreSQL is supported by Power BI</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Power BI selected as the consumer</a:t>
                      </a:r>
                    </a:p>
                  </a:txBody>
                  <a:tcPr marL="45720" marR="45720" marT="27432" marB="27432">
                    <a:solidFill>
                      <a:srgbClr val="F8FAFC"/>
                    </a:solidFill>
                  </a:tcPr>
                </a:tc>
              </a:tr>
              <a:tr h="685800">
                <a:tc>
                  <a:txBody>
                    <a:bodyPr/>
                    <a:lstStyle/>
                    <a:p>
                      <a:pPr algn="l">
                        <a:defRPr sz="1050" b="0">
                          <a:latin typeface="Aptos"/>
                        </a:defRPr>
                      </a:pPr>
                      <a:r>
                        <a:rPr sz="1100">
                          <a:solidFill>
                            <a:srgbClr val="1F2937"/>
                          </a:solidFill>
                          <a:latin typeface="Aptos"/>
                        </a:rPr>
                        <a:t>Google Cloud guidance</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Logical design, technology mapping and appropriate complexity</a:t>
                      </a:r>
                    </a:p>
                  </a:txBody>
                  <a:tcPr marL="45720" marR="45720" marT="27432" marB="27432">
                    <a:solidFill>
                      <a:srgbClr val="F8FAFC"/>
                    </a:solidFill>
                  </a:tcPr>
                </a:tc>
                <a:tc>
                  <a:txBody>
                    <a:bodyPr/>
                    <a:lstStyle/>
                    <a:p>
                      <a:pPr algn="l">
                        <a:defRPr sz="1050" b="0">
                          <a:latin typeface="Aptos"/>
                        </a:defRPr>
                      </a:pPr>
                      <a:r>
                        <a:rPr sz="1100">
                          <a:solidFill>
                            <a:srgbClr val="1F2937"/>
                          </a:solidFill>
                          <a:latin typeface="Aptos"/>
                        </a:rPr>
                        <a:t>Kept architecture simple and separated logical roles from products</a:t>
                      </a:r>
                    </a:p>
                  </a:txBody>
                  <a:tcPr marL="45720" marR="45720" marT="27432" marB="27432">
                    <a:solidFill>
                      <a:srgbClr val="F8FAFC"/>
                    </a:solidFill>
                  </a:tcPr>
                </a:tc>
              </a:tr>
            </a:tbl>
          </a:graphicData>
        </a:graphic>
      </p:graphicFrame>
      <p:sp>
        <p:nvSpPr>
          <p:cNvPr id="5" name="TextBox 4"/>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13. Actual Sources Used</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These sources were used for specific design decisions and not as a generic reference list.</a:t>
            </a:r>
          </a:p>
        </p:txBody>
      </p:sp>
      <p:sp>
        <p:nvSpPr>
          <p:cNvPr id="4" name="TextBox 3"/>
          <p:cNvSpPr txBox="1"/>
          <p:nvPr/>
        </p:nvSpPr>
        <p:spPr>
          <a:xfrm>
            <a:off x="548640" y="1188720"/>
            <a:ext cx="2834640" cy="384048"/>
          </a:xfrm>
          <a:prstGeom prst="rect">
            <a:avLst/>
          </a:prstGeom>
          <a:noFill/>
        </p:spPr>
        <p:txBody>
          <a:bodyPr wrap="square">
            <a:spAutoFit/>
          </a:bodyPr>
          <a:lstStyle/>
          <a:p>
            <a:pPr>
              <a:defRPr sz="1200" b="1">
                <a:latin typeface="Aptos"/>
              </a:defRPr>
            </a:pPr>
            <a:r>
              <a:rPr sz="1300">
                <a:solidFill>
                  <a:srgbClr val="111827"/>
                </a:solidFill>
              </a:rPr>
              <a:t>Open-Meteo Weather API Documentation</a:t>
            </a:r>
          </a:p>
        </p:txBody>
      </p:sp>
      <p:sp>
        <p:nvSpPr>
          <p:cNvPr id="5" name="TextBox 4"/>
          <p:cNvSpPr txBox="1"/>
          <p:nvPr/>
        </p:nvSpPr>
        <p:spPr>
          <a:xfrm>
            <a:off x="3429000" y="1188720"/>
            <a:ext cx="4251960" cy="457200"/>
          </a:xfrm>
          <a:prstGeom prst="rect">
            <a:avLst/>
          </a:prstGeom>
          <a:noFill/>
        </p:spPr>
        <p:txBody>
          <a:bodyPr wrap="square">
            <a:spAutoFit/>
          </a:bodyPr>
          <a:lstStyle/>
          <a:p>
            <a:pPr>
              <a:defRPr sz="1050" b="0">
                <a:latin typeface="Aptos"/>
              </a:defRPr>
            </a:pPr>
            <a:r>
              <a:rPr sz="1300">
                <a:solidFill>
                  <a:srgbClr val="111827"/>
                </a:solidFill>
              </a:rPr>
              <a:t>Weather variables and API response.</a:t>
            </a:r>
          </a:p>
        </p:txBody>
      </p:sp>
      <p:sp>
        <p:nvSpPr>
          <p:cNvPr id="6" name="TextBox 5"/>
          <p:cNvSpPr txBox="1"/>
          <p:nvPr/>
        </p:nvSpPr>
        <p:spPr>
          <a:xfrm>
            <a:off x="7772400" y="1188720"/>
            <a:ext cx="3794760" cy="502920"/>
          </a:xfrm>
          <a:prstGeom prst="rect">
            <a:avLst/>
          </a:prstGeom>
          <a:noFill/>
        </p:spPr>
        <p:txBody>
          <a:bodyPr wrap="square">
            <a:spAutoFit/>
          </a:bodyPr>
          <a:lstStyle/>
          <a:p>
            <a:pPr>
              <a:defRPr sz="900" b="0">
                <a:latin typeface="Aptos"/>
              </a:defRPr>
            </a:pPr>
            <a:r>
              <a:rPr sz="1300">
                <a:solidFill>
                  <a:srgbClr val="111827"/>
                </a:solidFill>
              </a:rPr>
              <a:t>https://open-meteo.com/en/docs</a:t>
            </a:r>
          </a:p>
        </p:txBody>
      </p:sp>
      <p:sp>
        <p:nvSpPr>
          <p:cNvPr id="7" name="TextBox 6"/>
          <p:cNvSpPr txBox="1"/>
          <p:nvPr/>
        </p:nvSpPr>
        <p:spPr>
          <a:xfrm>
            <a:off x="548640" y="1883664"/>
            <a:ext cx="2834640" cy="384048"/>
          </a:xfrm>
          <a:prstGeom prst="rect">
            <a:avLst/>
          </a:prstGeom>
          <a:noFill/>
        </p:spPr>
        <p:txBody>
          <a:bodyPr wrap="square">
            <a:spAutoFit/>
          </a:bodyPr>
          <a:lstStyle/>
          <a:p>
            <a:pPr>
              <a:defRPr sz="1200" b="1">
                <a:latin typeface="Aptos"/>
              </a:defRPr>
            </a:pPr>
            <a:r>
              <a:rPr sz="1300">
                <a:solidFill>
                  <a:srgbClr val="1F2937"/>
                </a:solidFill>
              </a:rPr>
              <a:t>Requests Quickstart Documentation</a:t>
            </a:r>
          </a:p>
        </p:txBody>
      </p:sp>
      <p:sp>
        <p:nvSpPr>
          <p:cNvPr id="8" name="TextBox 7"/>
          <p:cNvSpPr txBox="1"/>
          <p:nvPr/>
        </p:nvSpPr>
        <p:spPr>
          <a:xfrm>
            <a:off x="3429000" y="1883664"/>
            <a:ext cx="4251960" cy="457200"/>
          </a:xfrm>
          <a:prstGeom prst="rect">
            <a:avLst/>
          </a:prstGeom>
          <a:noFill/>
        </p:spPr>
        <p:txBody>
          <a:bodyPr wrap="square">
            <a:spAutoFit/>
          </a:bodyPr>
          <a:lstStyle/>
          <a:p>
            <a:pPr>
              <a:defRPr sz="1050" b="0">
                <a:latin typeface="Aptos"/>
              </a:defRPr>
            </a:pPr>
            <a:r>
              <a:rPr sz="1300">
                <a:solidFill>
                  <a:srgbClr val="1F2937"/>
                </a:solidFill>
              </a:rPr>
              <a:t>API requests, timeouts and request errors.</a:t>
            </a:r>
          </a:p>
        </p:txBody>
      </p:sp>
      <p:sp>
        <p:nvSpPr>
          <p:cNvPr id="9" name="TextBox 8"/>
          <p:cNvSpPr txBox="1"/>
          <p:nvPr/>
        </p:nvSpPr>
        <p:spPr>
          <a:xfrm>
            <a:off x="7772400" y="1883664"/>
            <a:ext cx="3794760" cy="502920"/>
          </a:xfrm>
          <a:prstGeom prst="rect">
            <a:avLst/>
          </a:prstGeom>
          <a:noFill/>
        </p:spPr>
        <p:txBody>
          <a:bodyPr wrap="square">
            <a:spAutoFit/>
          </a:bodyPr>
          <a:lstStyle/>
          <a:p>
            <a:pPr>
              <a:defRPr sz="900" b="0">
                <a:latin typeface="Aptos"/>
              </a:defRPr>
            </a:pPr>
            <a:r>
              <a:rPr sz="1300">
                <a:solidFill>
                  <a:srgbClr val="1F2937"/>
                </a:solidFill>
              </a:rPr>
              <a:t>https://requests.readthedocs.io/en/latest/user/quickstart/</a:t>
            </a:r>
          </a:p>
        </p:txBody>
      </p:sp>
      <p:sp>
        <p:nvSpPr>
          <p:cNvPr id="10" name="TextBox 9"/>
          <p:cNvSpPr txBox="1"/>
          <p:nvPr/>
        </p:nvSpPr>
        <p:spPr>
          <a:xfrm>
            <a:off x="548640" y="2578608"/>
            <a:ext cx="2834640" cy="384048"/>
          </a:xfrm>
          <a:prstGeom prst="rect">
            <a:avLst/>
          </a:prstGeom>
          <a:noFill/>
        </p:spPr>
        <p:txBody>
          <a:bodyPr wrap="square">
            <a:spAutoFit/>
          </a:bodyPr>
          <a:lstStyle/>
          <a:p>
            <a:pPr>
              <a:defRPr sz="1200" b="1">
                <a:latin typeface="Aptos"/>
              </a:defRPr>
            </a:pPr>
            <a:r>
              <a:rPr sz="1300">
                <a:solidFill>
                  <a:srgbClr val="1F2937"/>
                </a:solidFill>
              </a:rPr>
              <a:t>Pandas — read_json Documentation</a:t>
            </a:r>
          </a:p>
        </p:txBody>
      </p:sp>
      <p:sp>
        <p:nvSpPr>
          <p:cNvPr id="11" name="TextBox 10"/>
          <p:cNvSpPr txBox="1"/>
          <p:nvPr/>
        </p:nvSpPr>
        <p:spPr>
          <a:xfrm>
            <a:off x="3429000" y="2578608"/>
            <a:ext cx="4251960" cy="457200"/>
          </a:xfrm>
          <a:prstGeom prst="rect">
            <a:avLst/>
          </a:prstGeom>
          <a:noFill/>
        </p:spPr>
        <p:txBody>
          <a:bodyPr wrap="square">
            <a:spAutoFit/>
          </a:bodyPr>
          <a:lstStyle/>
          <a:p>
            <a:pPr>
              <a:defRPr sz="1050" b="0">
                <a:latin typeface="Aptos"/>
              </a:defRPr>
            </a:pPr>
            <a:r>
              <a:rPr sz="1300">
                <a:solidFill>
                  <a:srgbClr val="1F2937"/>
                </a:solidFill>
              </a:rPr>
              <a:t>JSON / JSON-like data into DataFrames.</a:t>
            </a:r>
          </a:p>
        </p:txBody>
      </p:sp>
      <p:sp>
        <p:nvSpPr>
          <p:cNvPr id="12" name="TextBox 11"/>
          <p:cNvSpPr txBox="1"/>
          <p:nvPr/>
        </p:nvSpPr>
        <p:spPr>
          <a:xfrm>
            <a:off x="7772400" y="2578608"/>
            <a:ext cx="3794760" cy="502920"/>
          </a:xfrm>
          <a:prstGeom prst="rect">
            <a:avLst/>
          </a:prstGeom>
          <a:noFill/>
        </p:spPr>
        <p:txBody>
          <a:bodyPr wrap="square">
            <a:spAutoFit/>
          </a:bodyPr>
          <a:lstStyle/>
          <a:p>
            <a:pPr>
              <a:defRPr sz="900" b="0">
                <a:latin typeface="Aptos"/>
              </a:defRPr>
            </a:pPr>
            <a:r>
              <a:rPr sz="1300">
                <a:solidFill>
                  <a:srgbClr val="1F2937"/>
                </a:solidFill>
              </a:rPr>
              <a:t>https://pandas.pydata.org/docs/reference/api/pandas.read_json.html</a:t>
            </a:r>
          </a:p>
        </p:txBody>
      </p:sp>
      <p:sp>
        <p:nvSpPr>
          <p:cNvPr id="13" name="TextBox 12"/>
          <p:cNvSpPr txBox="1"/>
          <p:nvPr/>
        </p:nvSpPr>
        <p:spPr>
          <a:xfrm>
            <a:off x="548640" y="3273552"/>
            <a:ext cx="2834640" cy="384048"/>
          </a:xfrm>
          <a:prstGeom prst="rect">
            <a:avLst/>
          </a:prstGeom>
          <a:noFill/>
        </p:spPr>
        <p:txBody>
          <a:bodyPr wrap="square">
            <a:spAutoFit/>
          </a:bodyPr>
          <a:lstStyle/>
          <a:p>
            <a:pPr>
              <a:defRPr sz="1200" b="1">
                <a:latin typeface="Aptos"/>
              </a:defRPr>
            </a:pPr>
            <a:r>
              <a:rPr sz="1300">
                <a:solidFill>
                  <a:srgbClr val="1F2937"/>
                </a:solidFill>
              </a:rPr>
              <a:t>PostgreSQL — Data Types</a:t>
            </a:r>
          </a:p>
        </p:txBody>
      </p:sp>
      <p:sp>
        <p:nvSpPr>
          <p:cNvPr id="14" name="TextBox 13"/>
          <p:cNvSpPr txBox="1"/>
          <p:nvPr/>
        </p:nvSpPr>
        <p:spPr>
          <a:xfrm>
            <a:off x="3429000" y="3273552"/>
            <a:ext cx="4251960" cy="457200"/>
          </a:xfrm>
          <a:prstGeom prst="rect">
            <a:avLst/>
          </a:prstGeom>
          <a:noFill/>
        </p:spPr>
        <p:txBody>
          <a:bodyPr wrap="square">
            <a:spAutoFit/>
          </a:bodyPr>
          <a:lstStyle/>
          <a:p>
            <a:pPr>
              <a:defRPr sz="1050" b="0">
                <a:latin typeface="Aptos"/>
              </a:defRPr>
            </a:pPr>
            <a:r>
              <a:rPr sz="1300">
                <a:solidFill>
                  <a:srgbClr val="1F2937"/>
                </a:solidFill>
              </a:rPr>
              <a:t>Suitable numeric and date/time types.</a:t>
            </a:r>
          </a:p>
        </p:txBody>
      </p:sp>
      <p:sp>
        <p:nvSpPr>
          <p:cNvPr id="15" name="TextBox 14"/>
          <p:cNvSpPr txBox="1"/>
          <p:nvPr/>
        </p:nvSpPr>
        <p:spPr>
          <a:xfrm>
            <a:off x="7772400" y="3273552"/>
            <a:ext cx="3794760" cy="502920"/>
          </a:xfrm>
          <a:prstGeom prst="rect">
            <a:avLst/>
          </a:prstGeom>
          <a:noFill/>
        </p:spPr>
        <p:txBody>
          <a:bodyPr wrap="square">
            <a:spAutoFit/>
          </a:bodyPr>
          <a:lstStyle/>
          <a:p>
            <a:pPr>
              <a:defRPr sz="900" b="0">
                <a:latin typeface="Aptos"/>
              </a:defRPr>
            </a:pPr>
            <a:r>
              <a:rPr sz="1300">
                <a:solidFill>
                  <a:srgbClr val="1F2937"/>
                </a:solidFill>
              </a:rPr>
              <a:t>https://www.postgresql.org/docs/current/datatype.html</a:t>
            </a:r>
          </a:p>
        </p:txBody>
      </p:sp>
      <p:sp>
        <p:nvSpPr>
          <p:cNvPr id="16" name="TextBox 15"/>
          <p:cNvSpPr txBox="1"/>
          <p:nvPr/>
        </p:nvSpPr>
        <p:spPr>
          <a:xfrm>
            <a:off x="548640" y="3968496"/>
            <a:ext cx="2834640" cy="384048"/>
          </a:xfrm>
          <a:prstGeom prst="rect">
            <a:avLst/>
          </a:prstGeom>
          <a:noFill/>
        </p:spPr>
        <p:txBody>
          <a:bodyPr wrap="square">
            <a:spAutoFit/>
          </a:bodyPr>
          <a:lstStyle/>
          <a:p>
            <a:pPr>
              <a:defRPr sz="1200" b="1">
                <a:latin typeface="Aptos"/>
              </a:defRPr>
            </a:pPr>
            <a:r>
              <a:rPr sz="1300">
                <a:solidFill>
                  <a:srgbClr val="1F2937"/>
                </a:solidFill>
              </a:rPr>
              <a:t>PostgreSQL — Constraints</a:t>
            </a:r>
          </a:p>
        </p:txBody>
      </p:sp>
      <p:sp>
        <p:nvSpPr>
          <p:cNvPr id="17" name="TextBox 16"/>
          <p:cNvSpPr txBox="1"/>
          <p:nvPr/>
        </p:nvSpPr>
        <p:spPr>
          <a:xfrm>
            <a:off x="3429000" y="3968496"/>
            <a:ext cx="4251960" cy="457200"/>
          </a:xfrm>
          <a:prstGeom prst="rect">
            <a:avLst/>
          </a:prstGeom>
          <a:noFill/>
        </p:spPr>
        <p:txBody>
          <a:bodyPr wrap="square">
            <a:spAutoFit/>
          </a:bodyPr>
          <a:lstStyle/>
          <a:p>
            <a:pPr>
              <a:defRPr sz="1050" b="0">
                <a:latin typeface="Aptos"/>
              </a:defRPr>
            </a:pPr>
            <a:r>
              <a:rPr sz="1300">
                <a:solidFill>
                  <a:srgbClr val="1F2937"/>
                </a:solidFill>
              </a:rPr>
              <a:t>NOT NULL, UNIQUE and CHECK data-quality rules.</a:t>
            </a:r>
          </a:p>
        </p:txBody>
      </p:sp>
      <p:sp>
        <p:nvSpPr>
          <p:cNvPr id="18" name="TextBox 17"/>
          <p:cNvSpPr txBox="1"/>
          <p:nvPr/>
        </p:nvSpPr>
        <p:spPr>
          <a:xfrm>
            <a:off x="7772400" y="3968496"/>
            <a:ext cx="3794760" cy="502920"/>
          </a:xfrm>
          <a:prstGeom prst="rect">
            <a:avLst/>
          </a:prstGeom>
          <a:noFill/>
        </p:spPr>
        <p:txBody>
          <a:bodyPr wrap="square">
            <a:spAutoFit/>
          </a:bodyPr>
          <a:lstStyle/>
          <a:p>
            <a:pPr>
              <a:defRPr sz="900" b="0">
                <a:latin typeface="Aptos"/>
              </a:defRPr>
            </a:pPr>
            <a:r>
              <a:rPr sz="1300">
                <a:solidFill>
                  <a:srgbClr val="1F2937"/>
                </a:solidFill>
              </a:rPr>
              <a:t>https://www.postgresql.org/docs/current/ddl-constraints.html</a:t>
            </a:r>
          </a:p>
        </p:txBody>
      </p:sp>
      <p:sp>
        <p:nvSpPr>
          <p:cNvPr id="19" name="TextBox 18"/>
          <p:cNvSpPr txBox="1"/>
          <p:nvPr/>
        </p:nvSpPr>
        <p:spPr>
          <a:xfrm>
            <a:off x="548640" y="4663440"/>
            <a:ext cx="2834640" cy="384048"/>
          </a:xfrm>
          <a:prstGeom prst="rect">
            <a:avLst/>
          </a:prstGeom>
          <a:noFill/>
        </p:spPr>
        <p:txBody>
          <a:bodyPr wrap="square">
            <a:spAutoFit/>
          </a:bodyPr>
          <a:lstStyle/>
          <a:p>
            <a:pPr>
              <a:defRPr sz="1200" b="1">
                <a:latin typeface="Aptos"/>
              </a:defRPr>
            </a:pPr>
            <a:r>
              <a:rPr sz="1300">
                <a:solidFill>
                  <a:srgbClr val="1F2937"/>
                </a:solidFill>
              </a:rPr>
              <a:t>Microsoft Learn — PostgreSQL connector for Power BI</a:t>
            </a:r>
          </a:p>
        </p:txBody>
      </p:sp>
      <p:sp>
        <p:nvSpPr>
          <p:cNvPr id="20" name="TextBox 19"/>
          <p:cNvSpPr txBox="1"/>
          <p:nvPr/>
        </p:nvSpPr>
        <p:spPr>
          <a:xfrm>
            <a:off x="3429000" y="4663440"/>
            <a:ext cx="4251960" cy="457200"/>
          </a:xfrm>
          <a:prstGeom prst="rect">
            <a:avLst/>
          </a:prstGeom>
          <a:noFill/>
        </p:spPr>
        <p:txBody>
          <a:bodyPr wrap="square">
            <a:spAutoFit/>
          </a:bodyPr>
          <a:lstStyle/>
          <a:p>
            <a:pPr>
              <a:defRPr sz="1050" b="0">
                <a:latin typeface="Aptos"/>
              </a:defRPr>
            </a:pPr>
            <a:r>
              <a:rPr sz="1300">
                <a:solidFill>
                  <a:srgbClr val="1F2937"/>
                </a:solidFill>
              </a:rPr>
              <a:t>PostgreSQL as a Power BI data source.</a:t>
            </a:r>
          </a:p>
        </p:txBody>
      </p:sp>
      <p:sp>
        <p:nvSpPr>
          <p:cNvPr id="21" name="TextBox 20"/>
          <p:cNvSpPr txBox="1"/>
          <p:nvPr/>
        </p:nvSpPr>
        <p:spPr>
          <a:xfrm>
            <a:off x="7772400" y="4663440"/>
            <a:ext cx="3794760" cy="502920"/>
          </a:xfrm>
          <a:prstGeom prst="rect">
            <a:avLst/>
          </a:prstGeom>
          <a:noFill/>
        </p:spPr>
        <p:txBody>
          <a:bodyPr wrap="square">
            <a:spAutoFit/>
          </a:bodyPr>
          <a:lstStyle/>
          <a:p>
            <a:pPr>
              <a:defRPr sz="900" b="0">
                <a:latin typeface="Aptos"/>
              </a:defRPr>
            </a:pPr>
            <a:r>
              <a:rPr sz="1300">
                <a:solidFill>
                  <a:srgbClr val="1F2937"/>
                </a:solidFill>
              </a:rPr>
              <a:t>https://learn.microsoft.com/en-us/power-query/connectors/postgresql</a:t>
            </a:r>
          </a:p>
        </p:txBody>
      </p:sp>
      <p:sp>
        <p:nvSpPr>
          <p:cNvPr id="22" name="TextBox 21"/>
          <p:cNvSpPr txBox="1"/>
          <p:nvPr/>
        </p:nvSpPr>
        <p:spPr>
          <a:xfrm>
            <a:off x="548640" y="5358383"/>
            <a:ext cx="2834640" cy="384048"/>
          </a:xfrm>
          <a:prstGeom prst="rect">
            <a:avLst/>
          </a:prstGeom>
          <a:noFill/>
        </p:spPr>
        <p:txBody>
          <a:bodyPr wrap="square">
            <a:spAutoFit/>
          </a:bodyPr>
          <a:lstStyle/>
          <a:p>
            <a:pPr>
              <a:defRPr sz="1200" b="1">
                <a:latin typeface="Aptos"/>
              </a:defRPr>
            </a:pPr>
            <a:r>
              <a:rPr sz="1300">
                <a:solidFill>
                  <a:srgbClr val="1F2937"/>
                </a:solidFill>
              </a:rPr>
              <a:t>Google Cloud — Data Pipeline Architecture</a:t>
            </a:r>
          </a:p>
        </p:txBody>
      </p:sp>
      <p:sp>
        <p:nvSpPr>
          <p:cNvPr id="23" name="TextBox 22"/>
          <p:cNvSpPr txBox="1"/>
          <p:nvPr/>
        </p:nvSpPr>
        <p:spPr>
          <a:xfrm>
            <a:off x="3429000" y="5358383"/>
            <a:ext cx="4251960" cy="457200"/>
          </a:xfrm>
          <a:prstGeom prst="rect">
            <a:avLst/>
          </a:prstGeom>
          <a:noFill/>
        </p:spPr>
        <p:txBody>
          <a:bodyPr wrap="square">
            <a:spAutoFit/>
          </a:bodyPr>
          <a:lstStyle/>
          <a:p>
            <a:pPr>
              <a:defRPr sz="1050" b="0">
                <a:latin typeface="Aptos"/>
              </a:defRPr>
            </a:pPr>
            <a:r>
              <a:rPr sz="1300">
                <a:solidFill>
                  <a:srgbClr val="1F2937"/>
                </a:solidFill>
              </a:rPr>
              <a:t>Logical vs technology design and appropriate complexity.</a:t>
            </a:r>
          </a:p>
        </p:txBody>
      </p:sp>
      <p:sp>
        <p:nvSpPr>
          <p:cNvPr id="24" name="TextBox 23"/>
          <p:cNvSpPr txBox="1"/>
          <p:nvPr/>
        </p:nvSpPr>
        <p:spPr>
          <a:xfrm>
            <a:off x="7772400" y="5358383"/>
            <a:ext cx="3794760" cy="502920"/>
          </a:xfrm>
          <a:prstGeom prst="rect">
            <a:avLst/>
          </a:prstGeom>
          <a:noFill/>
        </p:spPr>
        <p:txBody>
          <a:bodyPr wrap="square">
            <a:spAutoFit/>
          </a:bodyPr>
          <a:lstStyle/>
          <a:p>
            <a:pPr>
              <a:defRPr sz="900" b="0">
                <a:latin typeface="Aptos"/>
              </a:defRPr>
            </a:pPr>
            <a:r>
              <a:rPr sz="1300">
                <a:solidFill>
                  <a:srgbClr val="1F2937"/>
                </a:solidFill>
              </a:rPr>
              <a:t>https://cloud.google.com/blog/topics/developers-practitioners/what-data-pipeline-architecture-should-i-use/</a:t>
            </a:r>
          </a:p>
        </p:txBody>
      </p:sp>
      <p:sp>
        <p:nvSpPr>
          <p:cNvPr id="25" name="TextBox 24"/>
          <p:cNvSpPr txBox="1"/>
          <p:nvPr/>
        </p:nvSpPr>
        <p:spPr>
          <a:xfrm>
            <a:off x="594360" y="6144768"/>
            <a:ext cx="10789920" cy="274320"/>
          </a:xfrm>
          <a:prstGeom prst="rect">
            <a:avLst/>
          </a:prstGeom>
          <a:noFill/>
        </p:spPr>
        <p:txBody>
          <a:bodyPr wrap="square">
            <a:spAutoFit/>
          </a:bodyPr>
          <a:lstStyle/>
          <a:p>
            <a:pPr>
              <a:defRPr sz="1200" b="1">
                <a:latin typeface="Aptos"/>
              </a:defRPr>
            </a:pPr>
            <a:r>
              <a:rPr sz="1300">
                <a:solidFill>
                  <a:srgbClr val="1F2937"/>
                </a:solidFill>
              </a:rPr>
              <a:t>Each source is connected to a decision in my pipeline.</a:t>
            </a:r>
          </a:p>
        </p:txBody>
      </p:sp>
      <p:sp>
        <p:nvSpPr>
          <p:cNvPr id="26" name="TextBox 25"/>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548640"/>
          </a:xfrm>
          <a:prstGeom prst="rect">
            <a:avLst/>
          </a:prstGeom>
          <a:noFill/>
        </p:spPr>
        <p:txBody>
          <a:bodyPr wrap="square">
            <a:spAutoFit/>
          </a:bodyPr>
          <a:lstStyle/>
          <a:p>
            <a:pPr>
              <a:defRPr sz="2600" b="1">
                <a:latin typeface="Aptos"/>
              </a:defRPr>
            </a:pPr>
            <a:r>
              <a:rPr sz="1300">
                <a:solidFill>
                  <a:srgbClr val="111827"/>
                </a:solidFill>
              </a:rPr>
              <a:t>14. What My Research Changed in My Thinking</a:t>
            </a:r>
          </a:p>
        </p:txBody>
      </p:sp>
      <p:sp>
        <p:nvSpPr>
          <p:cNvPr id="3" name="TextBox 2"/>
          <p:cNvSpPr txBox="1"/>
          <p:nvPr/>
        </p:nvSpPr>
        <p:spPr>
          <a:xfrm>
            <a:off x="566928" y="868680"/>
            <a:ext cx="10972800" cy="365760"/>
          </a:xfrm>
          <a:prstGeom prst="rect">
            <a:avLst/>
          </a:prstGeom>
          <a:noFill/>
        </p:spPr>
        <p:txBody>
          <a:bodyPr wrap="square">
            <a:spAutoFit/>
          </a:bodyPr>
          <a:lstStyle/>
          <a:p>
            <a:pPr>
              <a:defRPr sz="1200" b="0">
                <a:latin typeface="Aptos"/>
              </a:defRPr>
            </a:pPr>
            <a:r>
              <a:rPr sz="1300">
                <a:solidFill>
                  <a:srgbClr val="111827"/>
                </a:solidFill>
              </a:rPr>
              <a:t>The final architecture stayed simple, but my understanding of the design became more specific.</a:t>
            </a:r>
          </a:p>
        </p:txBody>
      </p:sp>
      <p:sp>
        <p:nvSpPr>
          <p:cNvPr id="4" name="Rounded Rectangle 3"/>
          <p:cNvSpPr/>
          <p:nvPr/>
        </p:nvSpPr>
        <p:spPr>
          <a:xfrm>
            <a:off x="640080" y="1325880"/>
            <a:ext cx="3429000" cy="18288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Before research</a:t>
            </a:r>
          </a:p>
          <a:p>
            <a:pPr>
              <a:spcBef>
                <a:spcPts val="500"/>
              </a:spcBef>
              <a:defRPr sz="1150">
                <a:latin typeface="Aptos"/>
              </a:defRPr>
            </a:pPr>
            <a:r>
              <a:rPr sz="1300">
                <a:solidFill>
                  <a:srgbClr val="1F2937"/>
                </a:solidFill>
              </a:rPr>
              <a:t>I mainly thought of the pipeline as:</a:t>
            </a:r>
            <a:br/>
            <a:br/>
            <a:r>
              <a:rPr sz="1300">
                <a:solidFill>
                  <a:srgbClr val="1F2937"/>
                </a:solidFill>
              </a:rPr>
              <a:t>API → Python → Pandas → Database → Dashboard</a:t>
            </a:r>
          </a:p>
        </p:txBody>
      </p:sp>
      <p:sp>
        <p:nvSpPr>
          <p:cNvPr id="5" name="Rounded Rectangle 4"/>
          <p:cNvSpPr/>
          <p:nvPr/>
        </p:nvSpPr>
        <p:spPr>
          <a:xfrm>
            <a:off x="4343400" y="1325880"/>
            <a:ext cx="3429000" cy="18288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After research</a:t>
            </a:r>
          </a:p>
          <a:p>
            <a:pPr>
              <a:spcBef>
                <a:spcPts val="500"/>
              </a:spcBef>
              <a:defRPr sz="1150">
                <a:latin typeface="Aptos"/>
              </a:defRPr>
            </a:pPr>
            <a:r>
              <a:rPr sz="1300">
                <a:solidFill>
                  <a:srgbClr val="1F2937"/>
                </a:solidFill>
              </a:rPr>
              <a:t>I understood the reason for each boundary:</a:t>
            </a:r>
            <a:br/>
            <a:br/>
            <a:r>
              <a:rPr sz="1300">
                <a:solidFill>
                  <a:srgbClr val="1F2937"/>
                </a:solidFill>
              </a:rPr>
              <a:t>collect → process → validate → store → consume</a:t>
            </a:r>
          </a:p>
        </p:txBody>
      </p:sp>
      <p:sp>
        <p:nvSpPr>
          <p:cNvPr id="6" name="Rounded Rectangle 5"/>
          <p:cNvSpPr/>
          <p:nvPr/>
        </p:nvSpPr>
        <p:spPr>
          <a:xfrm>
            <a:off x="8046720" y="1325880"/>
            <a:ext cx="3429000" cy="1828800"/>
          </a:xfrm>
          <a:prstGeom prst="roundRect">
            <a:avLst/>
          </a:prstGeom>
          <a:solidFill>
            <a:srgbClr val="F8FAFC"/>
          </a:solidFill>
          <a:ln w="1524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ctr">
              <a:defRPr sz="1500" b="1">
                <a:latin typeface="Aptos Display"/>
              </a:defRPr>
            </a:pPr>
            <a:r>
              <a:rPr sz="1300">
                <a:solidFill>
                  <a:srgbClr val="1F2937"/>
                </a:solidFill>
              </a:rPr>
              <a:t>Main lesson</a:t>
            </a:r>
          </a:p>
          <a:p>
            <a:pPr>
              <a:spcBef>
                <a:spcPts val="500"/>
              </a:spcBef>
              <a:defRPr sz="1150">
                <a:latin typeface="Aptos"/>
              </a:defRPr>
            </a:pPr>
            <a:r>
              <a:rPr sz="1300">
                <a:solidFill>
                  <a:srgbClr val="1F2937"/>
                </a:solidFill>
              </a:rPr>
              <a:t>A pipeline should not be made complex just because more technologies exist.</a:t>
            </a:r>
            <a:br/>
            <a:br/>
            <a:r>
              <a:rPr sz="1300">
                <a:solidFill>
                  <a:srgbClr val="1F2937"/>
                </a:solidFill>
              </a:rPr>
              <a:t>The design should match the actual requirements.</a:t>
            </a:r>
          </a:p>
        </p:txBody>
      </p:sp>
      <p:sp>
        <p:nvSpPr>
          <p:cNvPr id="7" name="TextBox 6"/>
          <p:cNvSpPr txBox="1"/>
          <p:nvPr/>
        </p:nvSpPr>
        <p:spPr>
          <a:xfrm>
            <a:off x="822960" y="3657600"/>
            <a:ext cx="10424160" cy="548640"/>
          </a:xfrm>
          <a:prstGeom prst="rect">
            <a:avLst/>
          </a:prstGeom>
          <a:noFill/>
        </p:spPr>
        <p:txBody>
          <a:bodyPr wrap="square">
            <a:spAutoFit/>
          </a:bodyPr>
          <a:lstStyle/>
          <a:p>
            <a:pPr>
              <a:defRPr sz="1800" b="1">
                <a:latin typeface="Aptos"/>
              </a:defRPr>
            </a:pPr>
            <a:r>
              <a:rPr sz="1300">
                <a:solidFill>
                  <a:srgbClr val="1F2937"/>
                </a:solidFill>
              </a:rPr>
              <a:t>Final design:  Open-Meteo Weather API → Python → Pandas → PostgreSQL → Power BI</a:t>
            </a:r>
          </a:p>
        </p:txBody>
      </p:sp>
      <p:sp>
        <p:nvSpPr>
          <p:cNvPr id="8" name="TextBox 7"/>
          <p:cNvSpPr txBox="1"/>
          <p:nvPr/>
        </p:nvSpPr>
        <p:spPr>
          <a:xfrm>
            <a:off x="914400" y="4434840"/>
            <a:ext cx="10241280" cy="731520"/>
          </a:xfrm>
          <a:prstGeom prst="rect">
            <a:avLst/>
          </a:prstGeom>
          <a:noFill/>
        </p:spPr>
        <p:txBody>
          <a:bodyPr wrap="square">
            <a:spAutoFit/>
          </a:bodyPr>
          <a:lstStyle/>
          <a:p>
            <a:pPr>
              <a:defRPr sz="1500" b="0">
                <a:latin typeface="Aptos"/>
              </a:defRPr>
            </a:pPr>
            <a:r>
              <a:rPr sz="1300">
                <a:solidFill>
                  <a:srgbClr val="1F2937"/>
                </a:solidFill>
              </a:rPr>
              <a:t>My research helped me defend why each technology is present and why I intentionally did not add unnecessary components.</a:t>
            </a:r>
          </a:p>
        </p:txBody>
      </p:sp>
      <p:sp>
        <p:nvSpPr>
          <p:cNvPr id="9" name="TextBox 8"/>
          <p:cNvSpPr txBox="1"/>
          <p:nvPr/>
        </p:nvSpPr>
        <p:spPr>
          <a:xfrm>
            <a:off x="914400" y="5394960"/>
            <a:ext cx="10241280" cy="594360"/>
          </a:xfrm>
          <a:prstGeom prst="rect">
            <a:avLst/>
          </a:prstGeom>
          <a:noFill/>
        </p:spPr>
        <p:txBody>
          <a:bodyPr wrap="square">
            <a:spAutoFit/>
          </a:bodyPr>
          <a:lstStyle/>
          <a:p>
            <a:pPr>
              <a:defRPr sz="1250" b="0">
                <a:latin typeface="Aptos"/>
              </a:defRPr>
            </a:pPr>
            <a:r>
              <a:rPr sz="1300">
                <a:solidFill>
                  <a:srgbClr val="1F2937"/>
                </a:solidFill>
              </a:rPr>
              <a:t>I can explain the source, each stage, the research behind the choices, and the trade-off between simplicity and complexity.</a:t>
            </a:r>
          </a:p>
        </p:txBody>
      </p:sp>
      <p:sp>
        <p:nvSpPr>
          <p:cNvPr id="10" name="TextBox 9"/>
          <p:cNvSpPr txBox="1"/>
          <p:nvPr/>
        </p:nvSpPr>
        <p:spPr>
          <a:xfrm>
            <a:off x="594360" y="6473952"/>
            <a:ext cx="10972800" cy="201168"/>
          </a:xfrm>
          <a:prstGeom prst="rect">
            <a:avLst/>
          </a:prstGeom>
          <a:noFill/>
        </p:spPr>
        <p:txBody>
          <a:bodyPr wrap="square">
            <a:spAutoFit/>
          </a:bodyPr>
          <a:lstStyle/>
          <a:p>
            <a:pPr>
              <a:defRPr sz="900" b="0">
                <a:latin typeface="Aptos"/>
              </a:defRPr>
            </a:pPr>
            <a:r>
              <a:rPr sz="1300">
                <a:solidFill>
                  <a:srgbClr val="1F2937"/>
                </a:solidFill>
              </a:rPr>
              <a:t>Data Pipeline Design • Weather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4556</Words>
  <Application>WPS Presentation</Application>
  <PresentationFormat>On-screen Show (4:3)</PresentationFormat>
  <Paragraphs>238</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SimSun</vt:lpstr>
      <vt:lpstr>Wingdings</vt:lpstr>
      <vt:lpstr>Arial</vt:lpstr>
      <vt:lpstr>Calibri</vt:lpstr>
      <vt:lpstr>Helvetica Neue</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Prabhnoor Singh</cp:lastModifiedBy>
  <cp:revision>2</cp:revision>
  <dcterms:created xsi:type="dcterms:W3CDTF">2026-10-06T15:42:57Z</dcterms:created>
  <dcterms:modified xsi:type="dcterms:W3CDTF">2026-10-06T15:42:57Z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AA56C1C4BA1310C00117C56A8F8C7AC4_42</vt:lpwstr>
  </property>
  <property fmtid="{D5CDD505-2E9C-101B-9397-08002B2CF9AE}" pid="3" name="KSOProductBuildVer">
    <vt:lpwstr>1033-12.1.28496.28496</vt:lpwstr>
  </property>
</Properties>
</file>